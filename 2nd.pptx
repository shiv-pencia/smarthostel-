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45"/>
  </p:normalViewPr>
  <p:slideViewPr>
    <p:cSldViewPr snapToGrid="0">
      <p:cViewPr varScale="1">
        <p:scale>
          <a:sx n="122" d="100"/>
          <a:sy n="122" d="100"/>
        </p:scale>
        <p:origin x="22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6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6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62"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3"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64"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8BE8E0F-2467-405F-BCE1-0E8CCE941CF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PlaceHolder 1"/>
          <p:cNvSpPr>
            <a:spLocks noGrp="1" noRot="1" noChangeAspect="1"/>
          </p:cNvSpPr>
          <p:nvPr>
            <p:ph type="sldImg"/>
          </p:nvPr>
        </p:nvSpPr>
        <p:spPr>
          <a:xfrm>
            <a:off x="0" y="0"/>
            <a:ext cx="0" cy="0"/>
          </a:xfrm>
          <a:prstGeom prst="rect">
            <a:avLst/>
          </a:prstGeom>
          <a:ln w="0">
            <a:noFill/>
          </a:ln>
        </p:spPr>
      </p:sp>
      <p:sp>
        <p:nvSpPr>
          <p:cNvPr id="4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20–30 seconds. Introduce the project and your academic context. Mention that the presentation focuses on the database design and the selected hostel workflows.</a:t>
            </a:r>
          </a:p>
        </p:txBody>
      </p:sp>
      <p:sp>
        <p:nvSpPr>
          <p:cNvPr id="482"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noRot="1" noChangeAspect="1"/>
          </p:cNvSpPr>
          <p:nvPr>
            <p:ph type="sldImg"/>
          </p:nvPr>
        </p:nvSpPr>
        <p:spPr>
          <a:xfrm>
            <a:off x="0" y="0"/>
            <a:ext cx="0" cy="0"/>
          </a:xfrm>
          <a:prstGeom prst="rect">
            <a:avLst/>
          </a:prstGeom>
          <a:ln w="0">
            <a:noFill/>
          </a:ln>
        </p:spPr>
      </p:sp>
      <p:sp>
        <p:nvSpPr>
          <p:cNvPr id="4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40 seconds. Describe the operational problem rather than claiming measured impact. The objectives are to centralise records, enforce rules, track complaints and support reporting.</a:t>
            </a:r>
          </a:p>
        </p:txBody>
      </p:sp>
      <p:sp>
        <p:nvSpPr>
          <p:cNvPr id="485"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PlaceHolder 1"/>
          <p:cNvSpPr>
            <a:spLocks noGrp="1" noRot="1" noChangeAspect="1"/>
          </p:cNvSpPr>
          <p:nvPr>
            <p:ph type="sldImg"/>
          </p:nvPr>
        </p:nvSpPr>
        <p:spPr>
          <a:xfrm>
            <a:off x="0" y="0"/>
            <a:ext cx="0" cy="0"/>
          </a:xfrm>
          <a:prstGeom prst="rect">
            <a:avLst/>
          </a:prstGeom>
          <a:ln w="0">
            <a:noFill/>
          </a:ln>
        </p:spPr>
      </p:sp>
      <p:sp>
        <p:nvSpPr>
          <p:cNvPr id="48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50 seconds. Walk left to right. React sends HTTP requests to Express; the backend validates and applies business rules; Mongoose reads or writes MongoDB; JSON returns to the UI. Mention JWT only to the extent it is active in your current build.</a:t>
            </a:r>
          </a:p>
        </p:txBody>
      </p:sp>
      <p:sp>
        <p:nvSpPr>
          <p:cNvPr id="488"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PlaceHolder 1"/>
          <p:cNvSpPr>
            <a:spLocks noGrp="1" noRot="1" noChangeAspect="1"/>
          </p:cNvSpPr>
          <p:nvPr>
            <p:ph type="sldImg"/>
          </p:nvPr>
        </p:nvSpPr>
        <p:spPr>
          <a:xfrm>
            <a:off x="0" y="0"/>
            <a:ext cx="0" cy="0"/>
          </a:xfrm>
          <a:prstGeom prst="rect">
            <a:avLst/>
          </a:prstGeom>
          <a:ln w="0">
            <a:noFill/>
          </a:ln>
        </p:spPr>
      </p:sp>
      <p:sp>
        <p:nvSpPr>
          <p:cNvPr id="49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60 seconds. Explain that a hostel contains rooms and a room contains beds. Allocations connect a student/user to a bed; complaints connect the reporting user and assigned staff. This is intentionally marked conceptual because exact model schemas are not attached here. Do not claim the asterisked fields are exact implementation fields.</a:t>
            </a:r>
          </a:p>
        </p:txBody>
      </p:sp>
      <p:sp>
        <p:nvSpPr>
          <p:cNvPr id="491"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noRot="1" noChangeAspect="1"/>
          </p:cNvSpPr>
          <p:nvPr>
            <p:ph type="sldImg"/>
          </p:nvPr>
        </p:nvSpPr>
        <p:spPr>
          <a:xfrm>
            <a:off x="0" y="0"/>
            <a:ext cx="0" cy="0"/>
          </a:xfrm>
          <a:prstGeom prst="rect">
            <a:avLst/>
          </a:prstGeom>
          <a:ln w="0">
            <a:noFill/>
          </a:ln>
        </p:spPr>
      </p:sp>
      <p:sp>
        <p:nvSpPr>
          <p:cNvPr id="49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50 seconds. Explain that ObjectId references connect documents but are not identical to SQL foreign keys. Validation can happen in the API and model. A unique index or transaction should only be claimed if verified in code and the live database. The conceptual rule is to avoid assigning an already occupied bed.</a:t>
            </a:r>
          </a:p>
        </p:txBody>
      </p:sp>
      <p:sp>
        <p:nvSpPr>
          <p:cNvPr id="494"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PlaceHolder 1"/>
          <p:cNvSpPr>
            <a:spLocks noGrp="1" noRot="1" noChangeAspect="1"/>
          </p:cNvSpPr>
          <p:nvPr>
            <p:ph type="sldImg"/>
          </p:nvPr>
        </p:nvSpPr>
        <p:spPr>
          <a:xfrm>
            <a:off x="0" y="0"/>
            <a:ext cx="0" cy="0"/>
          </a:xfrm>
          <a:prstGeom prst="rect">
            <a:avLst/>
          </a:prstGeom>
          <a:ln w="0">
            <a:noFill/>
          </a:ln>
        </p:spPr>
      </p:sp>
      <p:sp>
        <p:nvSpPr>
          <p:cNvPr id="49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60 seconds. Explain the intended business workflow for each module. The existing foundation includes authentication, users, hostels, rooms and beds, while the selected allocation, complaint and reporting workflows require end-to-end verification before claiming they are complete.</a:t>
            </a:r>
          </a:p>
        </p:txBody>
      </p:sp>
      <p:sp>
        <p:nvSpPr>
          <p:cNvPr id="497" name="PlaceHolder 3"/>
          <p:cNvSpPr>
            <a:spLocks noGrp="1"/>
          </p:cNvSpPr>
          <p:nvPr>
            <p:ph type="sldNum" idx="42"/>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PlaceHolder 1"/>
          <p:cNvSpPr>
            <a:spLocks noGrp="1" noRot="1" noChangeAspect="1"/>
          </p:cNvSpPr>
          <p:nvPr>
            <p:ph type="sldImg"/>
          </p:nvPr>
        </p:nvSpPr>
        <p:spPr>
          <a:xfrm>
            <a:off x="0" y="0"/>
            <a:ext cx="0" cy="0"/>
          </a:xfrm>
          <a:prstGeom prst="rect">
            <a:avLst/>
          </a:prstGeom>
          <a:ln w="0">
            <a:noFill/>
          </a:ln>
        </p:spPr>
      </p:sp>
      <p:sp>
        <p:nvSpPr>
          <p:cNvPr id="4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55 seconds. Run mongosh with the project's actual MongoDB URI. Use show collections to verify names, then inspect records. The hostels/rooms examples are safe document inspection queries. The complaints aggregation assumes a status field and is explicitly illustrative; change it to match the actual schema before running.</a:t>
            </a:r>
          </a:p>
        </p:txBody>
      </p:sp>
      <p:sp>
        <p:nvSpPr>
          <p:cNvPr id="500"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PlaceHolder 1"/>
          <p:cNvSpPr>
            <a:spLocks noGrp="1" noRot="1" noChangeAspect="1"/>
          </p:cNvSpPr>
          <p:nvPr>
            <p:ph type="sldImg"/>
          </p:nvPr>
        </p:nvSpPr>
        <p:spPr>
          <a:xfrm>
            <a:off x="0" y="0"/>
            <a:ext cx="0" cy="0"/>
          </a:xfrm>
          <a:prstGeom prst="rect">
            <a:avLst/>
          </a:prstGeom>
          <a:ln w="0">
            <a:noFill/>
          </a:ln>
        </p:spPr>
      </p:sp>
      <p:sp>
        <p:nvSpPr>
          <p:cNvPr id="5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25 seconds if real screenshots are inserted. This slide intentionally contains placeholders, not fabricated application screenshots. Capture the real running UI and replace each placeholder before presenting.</a:t>
            </a:r>
          </a:p>
        </p:txBody>
      </p:sp>
      <p:sp>
        <p:nvSpPr>
          <p:cNvPr id="503" name="PlaceHolder 3"/>
          <p:cNvSpPr>
            <a:spLocks noGrp="1"/>
          </p:cNvSpPr>
          <p:nvPr>
            <p:ph type="sldNum" idx="44"/>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PlaceHolder 1"/>
          <p:cNvSpPr>
            <a:spLocks noGrp="1" noRot="1" noChangeAspect="1"/>
          </p:cNvSpPr>
          <p:nvPr>
            <p:ph type="sldImg"/>
          </p:nvPr>
        </p:nvSpPr>
        <p:spPr>
          <a:xfrm>
            <a:off x="0" y="0"/>
            <a:ext cx="0" cy="0"/>
          </a:xfrm>
          <a:prstGeom prst="rect">
            <a:avLst/>
          </a:prstGeom>
          <a:ln w="0">
            <a:noFill/>
          </a:ln>
        </p:spPr>
      </p:sp>
      <p:sp>
        <p:nvSpPr>
          <p:cNvPr id="5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35 seconds. Be transparent: the actual status is not yet tested from this presentation-building session. Run each case, record the actual response, and update the table. Do not claim a passing test without evidence.</a:t>
            </a:r>
          </a:p>
        </p:txBody>
      </p:sp>
      <p:sp>
        <p:nvSpPr>
          <p:cNvPr id="506" name="PlaceHolder 3"/>
          <p:cNvSpPr>
            <a:spLocks noGrp="1"/>
          </p:cNvSpPr>
          <p:nvPr>
            <p:ph type="sldNum" idx="45"/>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PlaceHolder 1"/>
          <p:cNvSpPr>
            <a:spLocks noGrp="1" noRot="1" noChangeAspect="1"/>
          </p:cNvSpPr>
          <p:nvPr>
            <p:ph type="sldImg"/>
          </p:nvPr>
        </p:nvSpPr>
        <p:spPr>
          <a:xfrm>
            <a:off x="0" y="0"/>
            <a:ext cx="0" cy="0"/>
          </a:xfrm>
          <a:prstGeom prst="rect">
            <a:avLst/>
          </a:prstGeom>
          <a:ln w="0">
            <a:noFill/>
          </a:ln>
        </p:spPr>
      </p:sp>
      <p:sp>
        <p:nvSpPr>
          <p:cNvPr id="50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2–3 minutes. Use one verified workflow rather than attempting all features. Prepare a test account and records. Keep MongoDB Compass open on the relevant collection. If allocation/complaint is not complete, demonstrate the verified inventory foundation instead.</a:t>
            </a:r>
          </a:p>
        </p:txBody>
      </p:sp>
      <p:sp>
        <p:nvSpPr>
          <p:cNvPr id="509" name="PlaceHolder 3"/>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PlaceHolder 1"/>
          <p:cNvSpPr>
            <a:spLocks noGrp="1" noRot="1" noChangeAspect="1"/>
          </p:cNvSpPr>
          <p:nvPr>
            <p:ph type="sldImg"/>
          </p:nvPr>
        </p:nvSpPr>
        <p:spPr>
          <a:xfrm>
            <a:off x="0" y="0"/>
            <a:ext cx="0" cy="0"/>
          </a:xfrm>
          <a:prstGeom prst="rect">
            <a:avLst/>
          </a:prstGeom>
          <a:ln w="0">
            <a:noFill/>
          </a:ln>
        </p:spPr>
      </p:sp>
      <p:sp>
        <p:nvSpPr>
          <p:cNvPr id="51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35 seconds. Summarise the value as connected, consistent and useful hostel records. Separate the existing foundation from the selected workflows still needing verification. Future scope includes testing, concurrency, analytics, auditability and operational security.</a:t>
            </a:r>
          </a:p>
        </p:txBody>
      </p:sp>
      <p:sp>
        <p:nvSpPr>
          <p:cNvPr id="512" name="PlaceHolder 3"/>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PlaceHolder 1"/>
          <p:cNvSpPr>
            <a:spLocks noGrp="1" noRot="1" noChangeAspect="1"/>
          </p:cNvSpPr>
          <p:nvPr>
            <p:ph type="sldImg"/>
          </p:nvPr>
        </p:nvSpPr>
        <p:spPr>
          <a:xfrm>
            <a:off x="0" y="0"/>
            <a:ext cx="0" cy="0"/>
          </a:xfrm>
          <a:prstGeom prst="rect">
            <a:avLst/>
          </a:prstGeom>
          <a:ln w="0">
            <a:noFill/>
          </a:ln>
        </p:spPr>
      </p:sp>
      <p:sp>
        <p:nvSpPr>
          <p:cNvPr id="51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nSpc>
                <a:spcPct val="100000"/>
              </a:lnSpc>
              <a:buNone/>
            </a:pPr>
            <a:r>
              <a:rPr lang="en-US" sz="2000" b="0" u="none" strike="noStrike">
                <a:solidFill>
                  <a:srgbClr val="000000"/>
                </a:solidFill>
                <a:effectLst/>
                <a:uFillTx/>
                <a:latin typeface="Arial"/>
              </a:rPr>
              <a:t>Timing: 15 seconds plus Q&amp;A. Thank the audience and invite questions. Be ready to explain MongoDB vs SQL, document references, allocation integrity and report verification without overstating unverified features.</a:t>
            </a:r>
          </a:p>
        </p:txBody>
      </p:sp>
      <p:sp>
        <p:nvSpPr>
          <p:cNvPr id="515" name="PlaceHolder 3"/>
          <p:cNvSpPr>
            <a:spLocks noGrp="1"/>
          </p:cNvSpPr>
          <p:nvPr>
            <p:ph type="sldNum" idx="48"/>
          </p:nvPr>
        </p:nvSpPr>
        <p:spPr>
          <a:xfrm>
            <a:off x="0" y="0"/>
            <a:ext cx="0" cy="0"/>
          </a:xfrm>
          <a:prstGeom prst="rect">
            <a:avLst/>
          </a:prstGeom>
          <a:noFill/>
          <a:ln w="0">
            <a:noFill/>
          </a:ln>
        </p:spPr>
        <p:txBody>
          <a:bodyPr lIns="90000" tIns="-45000" rIns="90000" bIns="-45000" anchor="t">
            <a:noAutofit/>
          </a:bodyPr>
          <a:lstStyle/>
          <a:p>
            <a:pPr indent="0">
              <a:buNone/>
            </a:pPr>
            <a:endParaRPr lang="en-US" sz="18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2E79FBE-A5C0-43A6-9AE4-12A92C0E411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5"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6"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7"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8"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D4919E8-B3E1-4D5A-BA5A-61137EFF1C2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0"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1"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2"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3"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73A9884-81CD-43A2-9483-4169E6247B0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6"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7"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8"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53823E3-9A69-44F6-9F00-CF7CA736DD1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1"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2"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3"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CFE410-B281-48F0-A39A-26A8D8F856B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5"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6"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7"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8"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9"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AB36B0C-87C6-4558-AD99-F79EF85875B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1"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2"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3"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35"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6"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7"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0D2EE64-2CCC-4C08-80AE-B593F7E2FF2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9"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0"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1"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A82B4B4-1A47-4B9F-A0E2-04516FEFC5B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4"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D8C9377-4655-42B5-9F12-AB371583037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4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48"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49"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0"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1"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2"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856E7FE-A4C3-45A7-90E3-4C62CE00B80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4"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5"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6"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7"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8"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CF977AE-CD34-461F-B7CC-7527364BAEC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7FC"/>
        </a:solidFill>
        <a:effectLst/>
      </p:bgPr>
    </p:bg>
    <p:spTree>
      <p:nvGrpSpPr>
        <p:cNvPr id="1" name=""/>
        <p:cNvGrpSpPr/>
        <p:nvPr/>
      </p:nvGrpSpPr>
      <p:grpSpPr>
        <a:xfrm>
          <a:off x="0" y="0"/>
          <a:ext cx="0" cy="0"/>
          <a:chOff x="0" y="0"/>
          <a:chExt cx="0" cy="0"/>
        </a:xfrm>
      </p:grpSpPr>
      <p:sp>
        <p:nvSpPr>
          <p:cNvPr id="65" name="Rectangle 1"/>
          <p:cNvSpPr/>
          <p:nvPr/>
        </p:nvSpPr>
        <p:spPr>
          <a:xfrm>
            <a:off x="0" y="0"/>
            <a:ext cx="164160" cy="685764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66" name="Rounded Rectangle 2"/>
          <p:cNvSpPr/>
          <p:nvPr/>
        </p:nvSpPr>
        <p:spPr>
          <a:xfrm>
            <a:off x="713160" y="713160"/>
            <a:ext cx="269712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67" name="TextBox 3"/>
          <p:cNvSpPr/>
          <p:nvPr/>
        </p:nvSpPr>
        <p:spPr>
          <a:xfrm>
            <a:off x="768240" y="736200"/>
            <a:ext cx="2587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50" b="1" u="none" strike="noStrike">
                <a:solidFill>
                  <a:srgbClr val="3576C8"/>
                </a:solidFill>
                <a:effectLst/>
                <a:uFillTx/>
                <a:latin typeface="Aptos"/>
              </a:rPr>
              <a:t>DATABASE MANAGEMENT SYSTEMS</a:t>
            </a:r>
            <a:endParaRPr lang="en-US" sz="950" b="0" u="none" strike="noStrike">
              <a:solidFill>
                <a:srgbClr val="000000"/>
              </a:solidFill>
              <a:effectLst/>
              <a:uFillTx/>
              <a:latin typeface="Arial"/>
            </a:endParaRPr>
          </a:p>
        </p:txBody>
      </p:sp>
      <p:sp>
        <p:nvSpPr>
          <p:cNvPr id="68" name="TextBox 4"/>
          <p:cNvSpPr/>
          <p:nvPr/>
        </p:nvSpPr>
        <p:spPr>
          <a:xfrm>
            <a:off x="713160" y="1444680"/>
            <a:ext cx="667476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3800" b="1" u="none" strike="noStrike">
                <a:solidFill>
                  <a:srgbClr val="14263D"/>
                </a:solidFill>
                <a:effectLst/>
                <a:uFillTx/>
                <a:latin typeface="Aptos"/>
              </a:rPr>
              <a:t>Smart Hostel</a:t>
            </a:r>
            <a:endParaRPr lang="en-US" sz="3800" b="0" u="none" strike="noStrike">
              <a:solidFill>
                <a:srgbClr val="000000"/>
              </a:solidFill>
              <a:effectLst/>
              <a:uFillTx/>
              <a:latin typeface="Arial"/>
            </a:endParaRPr>
          </a:p>
        </p:txBody>
      </p:sp>
      <p:sp>
        <p:nvSpPr>
          <p:cNvPr id="69" name="TextBox 5"/>
          <p:cNvSpPr/>
          <p:nvPr/>
        </p:nvSpPr>
        <p:spPr>
          <a:xfrm>
            <a:off x="713160" y="2112120"/>
            <a:ext cx="713196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3500" b="1" u="none" strike="noStrike">
                <a:solidFill>
                  <a:srgbClr val="3576C8"/>
                </a:solidFill>
                <a:effectLst/>
                <a:uFillTx/>
                <a:latin typeface="Aptos"/>
              </a:rPr>
              <a:t>Management System</a:t>
            </a:r>
            <a:endParaRPr lang="en-US" sz="3500" b="0" u="none" strike="noStrike">
              <a:solidFill>
                <a:srgbClr val="000000"/>
              </a:solidFill>
              <a:effectLst/>
              <a:uFillTx/>
              <a:latin typeface="Arial"/>
            </a:endParaRPr>
          </a:p>
        </p:txBody>
      </p:sp>
      <p:sp>
        <p:nvSpPr>
          <p:cNvPr id="70" name="TextBox 6"/>
          <p:cNvSpPr/>
          <p:nvPr/>
        </p:nvSpPr>
        <p:spPr>
          <a:xfrm>
            <a:off x="749880" y="2953440"/>
            <a:ext cx="67662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0" u="none" strike="noStrike">
                <a:solidFill>
                  <a:srgbClr val="617286"/>
                </a:solidFill>
                <a:effectLst/>
                <a:uFillTx/>
                <a:latin typeface="Aptos"/>
              </a:rPr>
              <a:t>A Database-Driven Approach to Hostel Operations</a:t>
            </a:r>
            <a:endParaRPr lang="en-US" sz="1700" b="0" u="none" strike="noStrike">
              <a:solidFill>
                <a:srgbClr val="000000"/>
              </a:solidFill>
              <a:effectLst/>
              <a:uFillTx/>
              <a:latin typeface="Arial"/>
            </a:endParaRPr>
          </a:p>
        </p:txBody>
      </p:sp>
      <p:sp>
        <p:nvSpPr>
          <p:cNvPr id="71" name="Rectangle 7"/>
          <p:cNvSpPr/>
          <p:nvPr/>
        </p:nvSpPr>
        <p:spPr>
          <a:xfrm>
            <a:off x="749880" y="3712320"/>
            <a:ext cx="868320" cy="5004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400" rIns="90000" bIns="54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72" name="TextBox 8"/>
          <p:cNvSpPr/>
          <p:nvPr/>
        </p:nvSpPr>
        <p:spPr>
          <a:xfrm>
            <a:off x="749880" y="3996000"/>
            <a:ext cx="173700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00" b="1" u="none" strike="noStrike">
                <a:solidFill>
                  <a:srgbClr val="087D76"/>
                </a:solidFill>
                <a:effectLst/>
                <a:uFillTx/>
                <a:latin typeface="Aptos"/>
              </a:rPr>
              <a:t>PRESENTED BY</a:t>
            </a:r>
            <a:endParaRPr lang="en-US" sz="900" b="0" u="none" strike="noStrike">
              <a:solidFill>
                <a:srgbClr val="000000"/>
              </a:solidFill>
              <a:effectLst/>
              <a:uFillTx/>
              <a:latin typeface="Arial"/>
            </a:endParaRPr>
          </a:p>
        </p:txBody>
      </p:sp>
      <p:sp>
        <p:nvSpPr>
          <p:cNvPr id="73" name="TextBox 9"/>
          <p:cNvSpPr/>
          <p:nvPr/>
        </p:nvSpPr>
        <p:spPr>
          <a:xfrm>
            <a:off x="749880" y="4316040"/>
            <a:ext cx="38401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u="none" strike="noStrike">
                <a:solidFill>
                  <a:srgbClr val="1D2A3A"/>
                </a:solidFill>
                <a:effectLst/>
                <a:uFillTx/>
                <a:latin typeface="Aptos"/>
              </a:rPr>
              <a:t>Shiv Prakash</a:t>
            </a:r>
            <a:endParaRPr lang="en-US" sz="1700" b="0" u="none" strike="noStrike">
              <a:solidFill>
                <a:srgbClr val="000000"/>
              </a:solidFill>
              <a:effectLst/>
              <a:uFillTx/>
              <a:latin typeface="Arial"/>
            </a:endParaRPr>
          </a:p>
        </p:txBody>
      </p:sp>
      <p:sp>
        <p:nvSpPr>
          <p:cNvPr id="74" name="TextBox 10"/>
          <p:cNvSpPr/>
          <p:nvPr/>
        </p:nvSpPr>
        <p:spPr>
          <a:xfrm>
            <a:off x="749880" y="4700160"/>
            <a:ext cx="5486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617286"/>
                </a:solidFill>
                <a:effectLst/>
                <a:uFillTx/>
                <a:latin typeface="Aptos"/>
              </a:rPr>
              <a:t>M.Sc. Mathematics and Computing  |  IIT Guwahati</a:t>
            </a:r>
            <a:endParaRPr lang="en-US" sz="1200" b="0" u="none" strike="noStrike">
              <a:solidFill>
                <a:srgbClr val="000000"/>
              </a:solidFill>
              <a:effectLst/>
              <a:uFillTx/>
              <a:latin typeface="Arial"/>
            </a:endParaRPr>
          </a:p>
        </p:txBody>
      </p:sp>
      <p:sp>
        <p:nvSpPr>
          <p:cNvPr id="75" name="TextBox 11"/>
          <p:cNvSpPr/>
          <p:nvPr/>
        </p:nvSpPr>
        <p:spPr>
          <a:xfrm>
            <a:off x="749880" y="5038200"/>
            <a:ext cx="51202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617286"/>
                </a:solidFill>
                <a:effectLst/>
                <a:uFillTx/>
                <a:latin typeface="Aptos"/>
              </a:rPr>
              <a:t>Course: Database Management Systems</a:t>
            </a:r>
            <a:endParaRPr lang="en-US" sz="1100" b="0" u="none" strike="noStrike">
              <a:solidFill>
                <a:srgbClr val="000000"/>
              </a:solidFill>
              <a:effectLst/>
              <a:uFillTx/>
              <a:latin typeface="Arial"/>
            </a:endParaRPr>
          </a:p>
        </p:txBody>
      </p:sp>
      <p:sp>
        <p:nvSpPr>
          <p:cNvPr id="76" name="TextBox 12"/>
          <p:cNvSpPr/>
          <p:nvPr/>
        </p:nvSpPr>
        <p:spPr>
          <a:xfrm>
            <a:off x="749880" y="5632560"/>
            <a:ext cx="6949080" cy="1530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880" b="0" i="1">
                <a:solidFill>
                  <a:srgbClr val="617286"/>
                </a:solidFill>
                <a:latin typeface="Aptos"/>
              </a:rPr>
              <a:t>Team: Prinjam Chauhan • Sourabh Pawar  |  Faculty: Prof. Kalpesh Kapoor</a:t>
            </a:r>
            <a:endParaRPr lang="en-US" sz="1000" b="0" u="none" strike="noStrike">
              <a:solidFill>
                <a:srgbClr val="000000"/>
              </a:solidFill>
              <a:effectLst/>
              <a:uFillTx/>
              <a:latin typeface="Arial"/>
            </a:endParaRPr>
          </a:p>
        </p:txBody>
      </p:sp>
      <p:sp>
        <p:nvSpPr>
          <p:cNvPr id="77" name="Rounded Rectangle 13"/>
          <p:cNvSpPr/>
          <p:nvPr/>
        </p:nvSpPr>
        <p:spPr>
          <a:xfrm>
            <a:off x="7726680" y="1024200"/>
            <a:ext cx="3428640" cy="342864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78" name="Rounded Rectangle 14"/>
          <p:cNvSpPr/>
          <p:nvPr/>
        </p:nvSpPr>
        <p:spPr>
          <a:xfrm>
            <a:off x="8101440" y="1389960"/>
            <a:ext cx="2678760" cy="2678760"/>
          </a:xfrm>
          <a:prstGeom prst="roundRect">
            <a:avLst>
              <a:gd name="adj" fmla="val 12000"/>
            </a:avLst>
          </a:prstGeom>
          <a:solidFill>
            <a:srgbClr val="D8F3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79" name="Rectangle 15"/>
          <p:cNvSpPr/>
          <p:nvPr/>
        </p:nvSpPr>
        <p:spPr>
          <a:xfrm>
            <a:off x="8832960" y="1993320"/>
            <a:ext cx="1225080" cy="1325520"/>
          </a:xfrm>
          <a:prstGeom prst="rect">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0" name="Oval 16"/>
          <p:cNvSpPr/>
          <p:nvPr/>
        </p:nvSpPr>
        <p:spPr>
          <a:xfrm>
            <a:off x="8832960" y="1755720"/>
            <a:ext cx="1225080" cy="493560"/>
          </a:xfrm>
          <a:prstGeom prst="ellipse">
            <a:avLst/>
          </a:prstGeom>
          <a:solidFill>
            <a:srgbClr val="14263D"/>
          </a:solidFill>
          <a:ln w="12700">
            <a:solidFill>
              <a:srgbClr val="12A89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1" name="Oval 17"/>
          <p:cNvSpPr/>
          <p:nvPr/>
        </p:nvSpPr>
        <p:spPr>
          <a:xfrm>
            <a:off x="8832960" y="3063240"/>
            <a:ext cx="1225080" cy="493560"/>
          </a:xfrm>
          <a:prstGeom prst="ellipse">
            <a:avLst/>
          </a:prstGeom>
          <a:solidFill>
            <a:srgbClr val="14263D"/>
          </a:solidFill>
          <a:ln w="12700">
            <a:solidFill>
              <a:srgbClr val="12A89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2" name="Rounded Rectangle 19"/>
          <p:cNvSpPr/>
          <p:nvPr/>
        </p:nvSpPr>
        <p:spPr>
          <a:xfrm>
            <a:off x="7589520" y="4754880"/>
            <a:ext cx="1298160" cy="292320"/>
          </a:xfrm>
          <a:prstGeom prst="roundRect">
            <a:avLst>
              <a:gd name="adj" fmla="val 12000"/>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3" name="TextBox 20"/>
          <p:cNvSpPr/>
          <p:nvPr/>
        </p:nvSpPr>
        <p:spPr>
          <a:xfrm>
            <a:off x="7644240" y="4777920"/>
            <a:ext cx="1188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14263D"/>
                </a:solidFill>
                <a:effectLst/>
                <a:uFillTx/>
                <a:latin typeface="Aptos"/>
              </a:rPr>
              <a:t>DATA MODEL</a:t>
            </a:r>
            <a:endParaRPr lang="en-US" sz="900" b="0" u="none" strike="noStrike">
              <a:solidFill>
                <a:srgbClr val="000000"/>
              </a:solidFill>
              <a:effectLst/>
              <a:uFillTx/>
              <a:latin typeface="Arial"/>
            </a:endParaRPr>
          </a:p>
        </p:txBody>
      </p:sp>
      <p:sp>
        <p:nvSpPr>
          <p:cNvPr id="84" name="Rounded Rectangle 21"/>
          <p:cNvSpPr/>
          <p:nvPr/>
        </p:nvSpPr>
        <p:spPr>
          <a:xfrm>
            <a:off x="9034200" y="4754880"/>
            <a:ext cx="1298160" cy="292320"/>
          </a:xfrm>
          <a:prstGeom prst="roundRect">
            <a:avLst>
              <a:gd name="adj" fmla="val 12000"/>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5" name="TextBox 22"/>
          <p:cNvSpPr/>
          <p:nvPr/>
        </p:nvSpPr>
        <p:spPr>
          <a:xfrm>
            <a:off x="9089280" y="4777920"/>
            <a:ext cx="1188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14263D"/>
                </a:solidFill>
                <a:effectLst/>
                <a:uFillTx/>
                <a:latin typeface="Aptos"/>
              </a:rPr>
              <a:t>INTEGRITY</a:t>
            </a:r>
            <a:endParaRPr lang="en-US" sz="900" b="0" u="none" strike="noStrike">
              <a:solidFill>
                <a:srgbClr val="000000"/>
              </a:solidFill>
              <a:effectLst/>
              <a:uFillTx/>
              <a:latin typeface="Arial"/>
            </a:endParaRPr>
          </a:p>
        </p:txBody>
      </p:sp>
      <p:sp>
        <p:nvSpPr>
          <p:cNvPr id="86" name="Rounded Rectangle 23"/>
          <p:cNvSpPr/>
          <p:nvPr/>
        </p:nvSpPr>
        <p:spPr>
          <a:xfrm>
            <a:off x="10478880" y="4754880"/>
            <a:ext cx="1298160" cy="292320"/>
          </a:xfrm>
          <a:prstGeom prst="roundRect">
            <a:avLst>
              <a:gd name="adj" fmla="val 12000"/>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87" name="TextBox 24"/>
          <p:cNvSpPr/>
          <p:nvPr/>
        </p:nvSpPr>
        <p:spPr>
          <a:xfrm>
            <a:off x="10533960" y="4777920"/>
            <a:ext cx="11883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14263D"/>
                </a:solidFill>
                <a:effectLst/>
                <a:uFillTx/>
                <a:latin typeface="Aptos"/>
              </a:rPr>
              <a:t>REPORTING</a:t>
            </a:r>
            <a:endParaRPr lang="en-US" sz="900" b="0" u="none" strike="noStrike">
              <a:solidFill>
                <a:srgbClr val="000000"/>
              </a:solidFill>
              <a:effectLst/>
              <a:uFillTx/>
              <a:latin typeface="Arial"/>
            </a:endParaRPr>
          </a:p>
        </p:txBody>
      </p:sp>
      <p:sp>
        <p:nvSpPr>
          <p:cNvPr id="88" name="TextBox 25"/>
          <p:cNvSpPr/>
          <p:nvPr/>
        </p:nvSpPr>
        <p:spPr>
          <a:xfrm>
            <a:off x="7680960" y="5349240"/>
            <a:ext cx="4023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00" b="1" u="none" strike="noStrike">
                <a:solidFill>
                  <a:srgbClr val="617286"/>
                </a:solidFill>
                <a:effectLst/>
                <a:uFillTx/>
                <a:latin typeface="Aptos"/>
              </a:rPr>
              <a:t>Project presentation  •  10 minutes</a:t>
            </a:r>
            <a:endParaRPr lang="en-US" sz="1100" b="0" u="none" strike="noStrike">
              <a:solidFill>
                <a:srgbClr val="000000"/>
              </a:solidFill>
              <a:effectLst/>
              <a:uFillTx/>
              <a:latin typeface="Arial"/>
            </a:endParaRPr>
          </a:p>
        </p:txBody>
      </p:sp>
      <p:sp>
        <p:nvSpPr>
          <p:cNvPr id="89" name="TextBox 26"/>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90" name="TextBox 27"/>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01</a:t>
            </a:r>
            <a:endParaRPr lang="en-US" sz="9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91"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01 / CONTEXT</a:t>
            </a:r>
            <a:endParaRPr lang="en-US" sz="950" b="0" u="none" strike="noStrike">
              <a:solidFill>
                <a:srgbClr val="000000"/>
              </a:solidFill>
              <a:effectLst/>
              <a:uFillTx/>
              <a:latin typeface="Arial"/>
            </a:endParaRPr>
          </a:p>
        </p:txBody>
      </p:sp>
      <p:sp>
        <p:nvSpPr>
          <p:cNvPr id="92"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Problem Statement &amp; Objectives</a:t>
            </a:r>
            <a:endParaRPr lang="en-US" sz="2700" b="0" u="none" strike="noStrike">
              <a:solidFill>
                <a:srgbClr val="000000"/>
              </a:solidFill>
              <a:effectLst/>
              <a:uFillTx/>
              <a:latin typeface="Arial"/>
            </a:endParaRPr>
          </a:p>
        </p:txBody>
      </p:sp>
      <p:sp>
        <p:nvSpPr>
          <p:cNvPr id="93"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A single database-backed application connects hostel inventory, student allocation, complaints and reporting.</a:t>
            </a:r>
            <a:endParaRPr lang="en-US" sz="1150" b="0" u="none" strike="noStrike">
              <a:solidFill>
                <a:srgbClr val="000000"/>
              </a:solidFill>
              <a:effectLst/>
              <a:uFillTx/>
              <a:latin typeface="Arial"/>
            </a:endParaRPr>
          </a:p>
        </p:txBody>
      </p:sp>
      <p:sp>
        <p:nvSpPr>
          <p:cNvPr id="94"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95"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02</a:t>
            </a:r>
            <a:endParaRPr lang="en-US" sz="900" b="0" u="none" strike="noStrike">
              <a:solidFill>
                <a:srgbClr val="000000"/>
              </a:solidFill>
              <a:effectLst/>
              <a:uFillTx/>
              <a:latin typeface="Arial"/>
            </a:endParaRPr>
          </a:p>
        </p:txBody>
      </p:sp>
      <p:sp>
        <p:nvSpPr>
          <p:cNvPr id="96" name="Rounded Rectangle 6"/>
          <p:cNvSpPr/>
          <p:nvPr/>
        </p:nvSpPr>
        <p:spPr>
          <a:xfrm>
            <a:off x="594360" y="1737360"/>
            <a:ext cx="2697120" cy="14169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97" name="Rectangle 7"/>
          <p:cNvSpPr/>
          <p:nvPr/>
        </p:nvSpPr>
        <p:spPr>
          <a:xfrm>
            <a:off x="594360" y="1865520"/>
            <a:ext cx="54360" cy="116100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98" name="TextBox 8"/>
          <p:cNvSpPr/>
          <p:nvPr/>
        </p:nvSpPr>
        <p:spPr>
          <a:xfrm>
            <a:off x="795600" y="1911240"/>
            <a:ext cx="2294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D2A3A"/>
                </a:solidFill>
                <a:effectLst/>
                <a:uFillTx/>
                <a:latin typeface="Aptos"/>
              </a:rPr>
              <a:t>Scattered records</a:t>
            </a:r>
            <a:endParaRPr lang="en-US" sz="1400" b="0" u="none" strike="noStrike">
              <a:solidFill>
                <a:srgbClr val="000000"/>
              </a:solidFill>
              <a:effectLst/>
              <a:uFillTx/>
              <a:latin typeface="Arial"/>
            </a:endParaRPr>
          </a:p>
        </p:txBody>
      </p:sp>
      <p:sp>
        <p:nvSpPr>
          <p:cNvPr id="99" name="TextBox 9"/>
          <p:cNvSpPr/>
          <p:nvPr/>
        </p:nvSpPr>
        <p:spPr>
          <a:xfrm>
            <a:off x="795600" y="2368440"/>
            <a:ext cx="2304000" cy="66708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100" b="0" u="none" strike="noStrike">
                <a:solidFill>
                  <a:srgbClr val="617286"/>
                </a:solidFill>
                <a:effectLst/>
                <a:uFillTx/>
                <a:latin typeface="Aptos"/>
              </a:rPr>
              <a:t>Student, room and bed information can be difficult to keep in sync.</a:t>
            </a:r>
            <a:endParaRPr lang="en-US" sz="1100" b="0" u="none" strike="noStrike">
              <a:solidFill>
                <a:srgbClr val="000000"/>
              </a:solidFill>
              <a:effectLst/>
              <a:uFillTx/>
              <a:latin typeface="Arial"/>
            </a:endParaRPr>
          </a:p>
        </p:txBody>
      </p:sp>
      <p:sp>
        <p:nvSpPr>
          <p:cNvPr id="100" name="Rounded Rectangle 10"/>
          <p:cNvSpPr/>
          <p:nvPr/>
        </p:nvSpPr>
        <p:spPr>
          <a:xfrm>
            <a:off x="3456360" y="1737360"/>
            <a:ext cx="2697120" cy="14169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1" name="Rectangle 11"/>
          <p:cNvSpPr/>
          <p:nvPr/>
        </p:nvSpPr>
        <p:spPr>
          <a:xfrm>
            <a:off x="3456360" y="1865520"/>
            <a:ext cx="54360" cy="116100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2" name="TextBox 12"/>
          <p:cNvSpPr/>
          <p:nvPr/>
        </p:nvSpPr>
        <p:spPr>
          <a:xfrm>
            <a:off x="3657600" y="1911240"/>
            <a:ext cx="2294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D2A3A"/>
                </a:solidFill>
                <a:effectLst/>
                <a:uFillTx/>
                <a:latin typeface="Aptos"/>
              </a:rPr>
              <a:t>Allocation conflicts</a:t>
            </a:r>
            <a:endParaRPr lang="en-US" sz="1400" b="0" u="none" strike="noStrike">
              <a:solidFill>
                <a:srgbClr val="000000"/>
              </a:solidFill>
              <a:effectLst/>
              <a:uFillTx/>
              <a:latin typeface="Arial"/>
            </a:endParaRPr>
          </a:p>
        </p:txBody>
      </p:sp>
      <p:sp>
        <p:nvSpPr>
          <p:cNvPr id="103" name="TextBox 13"/>
          <p:cNvSpPr/>
          <p:nvPr/>
        </p:nvSpPr>
        <p:spPr>
          <a:xfrm>
            <a:off x="3657600" y="2368440"/>
            <a:ext cx="2304000" cy="66708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100" b="0" u="none" strike="noStrike">
                <a:solidFill>
                  <a:srgbClr val="617286"/>
                </a:solidFill>
                <a:effectLst/>
                <a:uFillTx/>
                <a:latin typeface="Aptos"/>
              </a:rPr>
              <a:t>Manual tracking can lead to duplicate or conflicting bed assignments.</a:t>
            </a:r>
            <a:endParaRPr lang="en-US" sz="1100" b="0" u="none" strike="noStrike">
              <a:solidFill>
                <a:srgbClr val="000000"/>
              </a:solidFill>
              <a:effectLst/>
              <a:uFillTx/>
              <a:latin typeface="Arial"/>
            </a:endParaRPr>
          </a:p>
        </p:txBody>
      </p:sp>
      <p:sp>
        <p:nvSpPr>
          <p:cNvPr id="104" name="Rounded Rectangle 14"/>
          <p:cNvSpPr/>
          <p:nvPr/>
        </p:nvSpPr>
        <p:spPr>
          <a:xfrm>
            <a:off x="6318360" y="1737360"/>
            <a:ext cx="2697120" cy="14169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5" name="Rectangle 15"/>
          <p:cNvSpPr/>
          <p:nvPr/>
        </p:nvSpPr>
        <p:spPr>
          <a:xfrm>
            <a:off x="6318360" y="1865520"/>
            <a:ext cx="54360" cy="116100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6" name="TextBox 16"/>
          <p:cNvSpPr/>
          <p:nvPr/>
        </p:nvSpPr>
        <p:spPr>
          <a:xfrm>
            <a:off x="6519600" y="1911240"/>
            <a:ext cx="2294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D2A3A"/>
                </a:solidFill>
                <a:effectLst/>
                <a:uFillTx/>
                <a:latin typeface="Aptos"/>
              </a:rPr>
              <a:t>Complaint delays</a:t>
            </a:r>
            <a:endParaRPr lang="en-US" sz="1400" b="0" u="none" strike="noStrike">
              <a:solidFill>
                <a:srgbClr val="000000"/>
              </a:solidFill>
              <a:effectLst/>
              <a:uFillTx/>
              <a:latin typeface="Arial"/>
            </a:endParaRPr>
          </a:p>
        </p:txBody>
      </p:sp>
      <p:sp>
        <p:nvSpPr>
          <p:cNvPr id="107" name="TextBox 17"/>
          <p:cNvSpPr/>
          <p:nvPr/>
        </p:nvSpPr>
        <p:spPr>
          <a:xfrm>
            <a:off x="6519600" y="2368440"/>
            <a:ext cx="2304000" cy="66708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100" b="0" u="none" strike="noStrike">
                <a:solidFill>
                  <a:srgbClr val="617286"/>
                </a:solidFill>
                <a:effectLst/>
                <a:uFillTx/>
                <a:latin typeface="Aptos"/>
              </a:rPr>
              <a:t>Issues need a clear record, responsible staff and status.</a:t>
            </a:r>
            <a:endParaRPr lang="en-US" sz="1100" b="0" u="none" strike="noStrike">
              <a:solidFill>
                <a:srgbClr val="000000"/>
              </a:solidFill>
              <a:effectLst/>
              <a:uFillTx/>
              <a:latin typeface="Arial"/>
            </a:endParaRPr>
          </a:p>
        </p:txBody>
      </p:sp>
      <p:sp>
        <p:nvSpPr>
          <p:cNvPr id="108" name="Rounded Rectangle 18"/>
          <p:cNvSpPr/>
          <p:nvPr/>
        </p:nvSpPr>
        <p:spPr>
          <a:xfrm>
            <a:off x="9180720" y="1737360"/>
            <a:ext cx="2413800" cy="14169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09" name="Rectangle 19"/>
          <p:cNvSpPr/>
          <p:nvPr/>
        </p:nvSpPr>
        <p:spPr>
          <a:xfrm>
            <a:off x="9180720" y="1865520"/>
            <a:ext cx="54360" cy="116100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10" name="TextBox 20"/>
          <p:cNvSpPr/>
          <p:nvPr/>
        </p:nvSpPr>
        <p:spPr>
          <a:xfrm>
            <a:off x="9381600" y="1911240"/>
            <a:ext cx="2011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D2A3A"/>
                </a:solidFill>
                <a:effectLst/>
                <a:uFillTx/>
                <a:latin typeface="Aptos"/>
              </a:rPr>
              <a:t>Limited visibility</a:t>
            </a:r>
            <a:endParaRPr lang="en-US" sz="1400" b="0" u="none" strike="noStrike">
              <a:solidFill>
                <a:srgbClr val="000000"/>
              </a:solidFill>
              <a:effectLst/>
              <a:uFillTx/>
              <a:latin typeface="Arial"/>
            </a:endParaRPr>
          </a:p>
        </p:txBody>
      </p:sp>
      <p:sp>
        <p:nvSpPr>
          <p:cNvPr id="111" name="TextBox 21"/>
          <p:cNvSpPr/>
          <p:nvPr/>
        </p:nvSpPr>
        <p:spPr>
          <a:xfrm>
            <a:off x="9381600" y="2368440"/>
            <a:ext cx="2020320" cy="66708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100" b="0" u="none" strike="noStrike">
                <a:solidFill>
                  <a:srgbClr val="617286"/>
                </a:solidFill>
                <a:effectLst/>
                <a:uFillTx/>
                <a:latin typeface="Aptos"/>
              </a:rPr>
              <a:t>Admins need reliable occupancy and operational summaries.</a:t>
            </a:r>
            <a:endParaRPr lang="en-US" sz="1100" b="0" u="none" strike="noStrike">
              <a:solidFill>
                <a:srgbClr val="000000"/>
              </a:solidFill>
              <a:effectLst/>
              <a:uFillTx/>
              <a:latin typeface="Arial"/>
            </a:endParaRPr>
          </a:p>
        </p:txBody>
      </p:sp>
      <p:sp>
        <p:nvSpPr>
          <p:cNvPr id="112" name="TextBox 22"/>
          <p:cNvSpPr/>
          <p:nvPr/>
        </p:nvSpPr>
        <p:spPr>
          <a:xfrm>
            <a:off x="621720" y="367596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00" b="1" u="none" strike="noStrike">
                <a:solidFill>
                  <a:srgbClr val="087D76"/>
                </a:solidFill>
                <a:effectLst/>
                <a:uFillTx/>
                <a:latin typeface="Aptos"/>
              </a:rPr>
              <a:t>PROJECT OBJECTIVES</a:t>
            </a:r>
            <a:endParaRPr lang="en-US" sz="1000" b="0" u="none" strike="noStrike">
              <a:solidFill>
                <a:srgbClr val="000000"/>
              </a:solidFill>
              <a:effectLst/>
              <a:uFillTx/>
              <a:latin typeface="Arial"/>
            </a:endParaRPr>
          </a:p>
        </p:txBody>
      </p:sp>
      <p:sp>
        <p:nvSpPr>
          <p:cNvPr id="113" name="Rounded Rectangle 23"/>
          <p:cNvSpPr/>
          <p:nvPr/>
        </p:nvSpPr>
        <p:spPr>
          <a:xfrm>
            <a:off x="594360" y="4041720"/>
            <a:ext cx="2697120" cy="117000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14" name="TextBox 24"/>
          <p:cNvSpPr/>
          <p:nvPr/>
        </p:nvSpPr>
        <p:spPr>
          <a:xfrm>
            <a:off x="758880" y="4224600"/>
            <a:ext cx="438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12A89D"/>
                </a:solidFill>
                <a:effectLst/>
                <a:uFillTx/>
                <a:latin typeface="Aptos"/>
              </a:rPr>
              <a:t>01</a:t>
            </a:r>
            <a:endParaRPr lang="en-US" sz="1200" b="0" u="none" strike="noStrike">
              <a:solidFill>
                <a:srgbClr val="000000"/>
              </a:solidFill>
              <a:effectLst/>
              <a:uFillTx/>
              <a:latin typeface="Arial"/>
            </a:endParaRPr>
          </a:p>
        </p:txBody>
      </p:sp>
      <p:sp>
        <p:nvSpPr>
          <p:cNvPr id="115" name="TextBox 25"/>
          <p:cNvSpPr/>
          <p:nvPr/>
        </p:nvSpPr>
        <p:spPr>
          <a:xfrm>
            <a:off x="1280160" y="41878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Centralise</a:t>
            </a:r>
            <a:endParaRPr lang="en-US" sz="1400" b="0" u="none" strike="noStrike">
              <a:solidFill>
                <a:srgbClr val="000000"/>
              </a:solidFill>
              <a:effectLst/>
              <a:uFillTx/>
              <a:latin typeface="Arial"/>
            </a:endParaRPr>
          </a:p>
        </p:txBody>
      </p:sp>
      <p:sp>
        <p:nvSpPr>
          <p:cNvPr id="116" name="TextBox 26"/>
          <p:cNvSpPr/>
          <p:nvPr/>
        </p:nvSpPr>
        <p:spPr>
          <a:xfrm>
            <a:off x="1280160" y="4526280"/>
            <a:ext cx="17553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50" b="0" u="none" strike="noStrike">
                <a:solidFill>
                  <a:srgbClr val="617286"/>
                </a:solidFill>
                <a:effectLst/>
                <a:uFillTx/>
                <a:latin typeface="Aptos"/>
              </a:rPr>
              <a:t>Keep hostel records in one system.</a:t>
            </a:r>
            <a:endParaRPr lang="en-US" sz="1050" b="0" u="none" strike="noStrike">
              <a:solidFill>
                <a:srgbClr val="000000"/>
              </a:solidFill>
              <a:effectLst/>
              <a:uFillTx/>
              <a:latin typeface="Arial"/>
            </a:endParaRPr>
          </a:p>
        </p:txBody>
      </p:sp>
      <p:sp>
        <p:nvSpPr>
          <p:cNvPr id="117" name="Rounded Rectangle 27"/>
          <p:cNvSpPr/>
          <p:nvPr/>
        </p:nvSpPr>
        <p:spPr>
          <a:xfrm>
            <a:off x="3456360" y="4041720"/>
            <a:ext cx="2697120" cy="117000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18" name="TextBox 28"/>
          <p:cNvSpPr/>
          <p:nvPr/>
        </p:nvSpPr>
        <p:spPr>
          <a:xfrm>
            <a:off x="3620880" y="4224600"/>
            <a:ext cx="438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12A89D"/>
                </a:solidFill>
                <a:effectLst/>
                <a:uFillTx/>
                <a:latin typeface="Aptos"/>
              </a:rPr>
              <a:t>02</a:t>
            </a:r>
            <a:endParaRPr lang="en-US" sz="1200" b="0" u="none" strike="noStrike">
              <a:solidFill>
                <a:srgbClr val="000000"/>
              </a:solidFill>
              <a:effectLst/>
              <a:uFillTx/>
              <a:latin typeface="Arial"/>
            </a:endParaRPr>
          </a:p>
        </p:txBody>
      </p:sp>
      <p:sp>
        <p:nvSpPr>
          <p:cNvPr id="119" name="TextBox 29"/>
          <p:cNvSpPr/>
          <p:nvPr/>
        </p:nvSpPr>
        <p:spPr>
          <a:xfrm>
            <a:off x="4142160" y="41878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Validate</a:t>
            </a:r>
            <a:endParaRPr lang="en-US" sz="1400" b="0" u="none" strike="noStrike">
              <a:solidFill>
                <a:srgbClr val="000000"/>
              </a:solidFill>
              <a:effectLst/>
              <a:uFillTx/>
              <a:latin typeface="Arial"/>
            </a:endParaRPr>
          </a:p>
        </p:txBody>
      </p:sp>
      <p:sp>
        <p:nvSpPr>
          <p:cNvPr id="120" name="TextBox 30"/>
          <p:cNvSpPr/>
          <p:nvPr/>
        </p:nvSpPr>
        <p:spPr>
          <a:xfrm>
            <a:off x="4142160" y="4526280"/>
            <a:ext cx="17553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50" b="0" u="none" strike="noStrike">
                <a:solidFill>
                  <a:srgbClr val="617286"/>
                </a:solidFill>
                <a:effectLst/>
                <a:uFillTx/>
                <a:latin typeface="Aptos"/>
              </a:rPr>
              <a:t>Reduce invalid or conflicting updates.</a:t>
            </a:r>
            <a:endParaRPr lang="en-US" sz="1050" b="0" u="none" strike="noStrike">
              <a:solidFill>
                <a:srgbClr val="000000"/>
              </a:solidFill>
              <a:effectLst/>
              <a:uFillTx/>
              <a:latin typeface="Arial"/>
            </a:endParaRPr>
          </a:p>
        </p:txBody>
      </p:sp>
      <p:sp>
        <p:nvSpPr>
          <p:cNvPr id="121" name="Rounded Rectangle 31"/>
          <p:cNvSpPr/>
          <p:nvPr/>
        </p:nvSpPr>
        <p:spPr>
          <a:xfrm>
            <a:off x="6318360" y="4041720"/>
            <a:ext cx="2697120" cy="117000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22" name="TextBox 32"/>
          <p:cNvSpPr/>
          <p:nvPr/>
        </p:nvSpPr>
        <p:spPr>
          <a:xfrm>
            <a:off x="6483240" y="4224600"/>
            <a:ext cx="438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12A89D"/>
                </a:solidFill>
                <a:effectLst/>
                <a:uFillTx/>
                <a:latin typeface="Aptos"/>
              </a:rPr>
              <a:t>03</a:t>
            </a:r>
            <a:endParaRPr lang="en-US" sz="1200" b="0" u="none" strike="noStrike">
              <a:solidFill>
                <a:srgbClr val="000000"/>
              </a:solidFill>
              <a:effectLst/>
              <a:uFillTx/>
              <a:latin typeface="Arial"/>
            </a:endParaRPr>
          </a:p>
        </p:txBody>
      </p:sp>
      <p:sp>
        <p:nvSpPr>
          <p:cNvPr id="123" name="TextBox 33"/>
          <p:cNvSpPr/>
          <p:nvPr/>
        </p:nvSpPr>
        <p:spPr>
          <a:xfrm>
            <a:off x="7004160" y="41878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Track</a:t>
            </a:r>
            <a:endParaRPr lang="en-US" sz="1400" b="0" u="none" strike="noStrike">
              <a:solidFill>
                <a:srgbClr val="000000"/>
              </a:solidFill>
              <a:effectLst/>
              <a:uFillTx/>
              <a:latin typeface="Arial"/>
            </a:endParaRPr>
          </a:p>
        </p:txBody>
      </p:sp>
      <p:sp>
        <p:nvSpPr>
          <p:cNvPr id="124" name="TextBox 34"/>
          <p:cNvSpPr/>
          <p:nvPr/>
        </p:nvSpPr>
        <p:spPr>
          <a:xfrm>
            <a:off x="7004160" y="4526280"/>
            <a:ext cx="17553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50" b="0" u="none" strike="noStrike">
                <a:solidFill>
                  <a:srgbClr val="617286"/>
                </a:solidFill>
                <a:effectLst/>
                <a:uFillTx/>
                <a:latin typeface="Aptos"/>
              </a:rPr>
              <a:t>Record complaint ownership and progress.</a:t>
            </a:r>
            <a:endParaRPr lang="en-US" sz="1050" b="0" u="none" strike="noStrike">
              <a:solidFill>
                <a:srgbClr val="000000"/>
              </a:solidFill>
              <a:effectLst/>
              <a:uFillTx/>
              <a:latin typeface="Arial"/>
            </a:endParaRPr>
          </a:p>
        </p:txBody>
      </p:sp>
      <p:sp>
        <p:nvSpPr>
          <p:cNvPr id="125" name="Rounded Rectangle 35"/>
          <p:cNvSpPr/>
          <p:nvPr/>
        </p:nvSpPr>
        <p:spPr>
          <a:xfrm>
            <a:off x="9180720" y="4041720"/>
            <a:ext cx="2697120" cy="117000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26" name="TextBox 36"/>
          <p:cNvSpPr/>
          <p:nvPr/>
        </p:nvSpPr>
        <p:spPr>
          <a:xfrm>
            <a:off x="9345240" y="4224600"/>
            <a:ext cx="438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12A89D"/>
                </a:solidFill>
                <a:effectLst/>
                <a:uFillTx/>
                <a:latin typeface="Aptos"/>
              </a:rPr>
              <a:t>04</a:t>
            </a:r>
            <a:endParaRPr lang="en-US" sz="1200" b="0" u="none" strike="noStrike">
              <a:solidFill>
                <a:srgbClr val="000000"/>
              </a:solidFill>
              <a:effectLst/>
              <a:uFillTx/>
              <a:latin typeface="Arial"/>
            </a:endParaRPr>
          </a:p>
        </p:txBody>
      </p:sp>
      <p:sp>
        <p:nvSpPr>
          <p:cNvPr id="127" name="TextBox 37"/>
          <p:cNvSpPr/>
          <p:nvPr/>
        </p:nvSpPr>
        <p:spPr>
          <a:xfrm>
            <a:off x="9866520" y="4187880"/>
            <a:ext cx="1737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Summarise</a:t>
            </a:r>
            <a:endParaRPr lang="en-US" sz="1400" b="0" u="none" strike="noStrike">
              <a:solidFill>
                <a:srgbClr val="000000"/>
              </a:solidFill>
              <a:effectLst/>
              <a:uFillTx/>
              <a:latin typeface="Arial"/>
            </a:endParaRPr>
          </a:p>
        </p:txBody>
      </p:sp>
      <p:sp>
        <p:nvSpPr>
          <p:cNvPr id="128" name="TextBox 38"/>
          <p:cNvSpPr/>
          <p:nvPr/>
        </p:nvSpPr>
        <p:spPr>
          <a:xfrm>
            <a:off x="9866520" y="4526280"/>
            <a:ext cx="17553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50" b="0" u="none" strike="noStrike">
                <a:solidFill>
                  <a:srgbClr val="617286"/>
                </a:solidFill>
                <a:effectLst/>
                <a:uFillTx/>
                <a:latin typeface="Aptos"/>
              </a:rPr>
              <a:t>Support decisions with database reports.</a:t>
            </a:r>
            <a:endParaRPr lang="en-US" sz="1050" b="0" u="none" strike="noStrike">
              <a:solidFill>
                <a:srgbClr val="000000"/>
              </a:solidFill>
              <a:effectLst/>
              <a:uFillTx/>
              <a:latin typeface="Arial"/>
            </a:endParaRPr>
          </a:p>
        </p:txBody>
      </p:sp>
      <p:sp>
        <p:nvSpPr>
          <p:cNvPr id="129" name="TextBox 39"/>
          <p:cNvSpPr/>
          <p:nvPr/>
        </p:nvSpPr>
        <p:spPr>
          <a:xfrm>
            <a:off x="621720" y="5669280"/>
            <a:ext cx="10881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1" u="none" strike="noStrike">
                <a:solidFill>
                  <a:srgbClr val="14263D"/>
                </a:solidFill>
                <a:effectLst/>
                <a:uFillTx/>
                <a:latin typeface="Aptos"/>
              </a:rPr>
              <a:t>Scope: authentication and inventory foundation, plus allocation, complaint management and reports.</a:t>
            </a:r>
            <a:endParaRPr lang="en-US" sz="11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130"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02 / SYSTEM DESIGN</a:t>
            </a:r>
            <a:endParaRPr lang="en-US" sz="950" b="0" u="none" strike="noStrike">
              <a:solidFill>
                <a:srgbClr val="000000"/>
              </a:solidFill>
              <a:effectLst/>
              <a:uFillTx/>
              <a:latin typeface="Arial"/>
            </a:endParaRPr>
          </a:p>
        </p:txBody>
      </p:sp>
      <p:sp>
        <p:nvSpPr>
          <p:cNvPr id="131"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System Architecture &amp; Technology Stack</a:t>
            </a:r>
            <a:endParaRPr lang="en-US" sz="2700" b="0" u="none" strike="noStrike">
              <a:solidFill>
                <a:srgbClr val="000000"/>
              </a:solidFill>
              <a:effectLst/>
              <a:uFillTx/>
              <a:latin typeface="Arial"/>
            </a:endParaRPr>
          </a:p>
        </p:txBody>
      </p:sp>
      <p:sp>
        <p:nvSpPr>
          <p:cNvPr id="132"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Three layers separate the interface, business rules and persistent document data.</a:t>
            </a:r>
            <a:endParaRPr lang="en-US" sz="1150" b="0" u="none" strike="noStrike">
              <a:solidFill>
                <a:srgbClr val="000000"/>
              </a:solidFill>
              <a:effectLst/>
              <a:uFillTx/>
              <a:latin typeface="Arial"/>
            </a:endParaRPr>
          </a:p>
        </p:txBody>
      </p:sp>
      <p:sp>
        <p:nvSpPr>
          <p:cNvPr id="133"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134"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03</a:t>
            </a:r>
            <a:endParaRPr lang="en-US" sz="900" b="0" u="none" strike="noStrike">
              <a:solidFill>
                <a:srgbClr val="000000"/>
              </a:solidFill>
              <a:effectLst/>
              <a:uFillTx/>
              <a:latin typeface="Arial"/>
            </a:endParaRPr>
          </a:p>
        </p:txBody>
      </p:sp>
      <p:sp>
        <p:nvSpPr>
          <p:cNvPr id="135" name="Rounded Rectangle 6"/>
          <p:cNvSpPr/>
          <p:nvPr/>
        </p:nvSpPr>
        <p:spPr>
          <a:xfrm>
            <a:off x="685800" y="1828800"/>
            <a:ext cx="3017160" cy="159984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36" name="Rectangle 7"/>
          <p:cNvSpPr/>
          <p:nvPr/>
        </p:nvSpPr>
        <p:spPr>
          <a:xfrm>
            <a:off x="685800" y="1956960"/>
            <a:ext cx="54360" cy="13438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37" name="TextBox 8"/>
          <p:cNvSpPr/>
          <p:nvPr/>
        </p:nvSpPr>
        <p:spPr>
          <a:xfrm>
            <a:off x="887040" y="2002680"/>
            <a:ext cx="261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u="none" strike="noStrike">
                <a:solidFill>
                  <a:srgbClr val="1D2A3A"/>
                </a:solidFill>
                <a:effectLst/>
                <a:uFillTx/>
                <a:latin typeface="Aptos"/>
              </a:rPr>
              <a:t>01  Frontend</a:t>
            </a:r>
            <a:endParaRPr lang="en-US" sz="1700" b="0" u="none" strike="noStrike">
              <a:solidFill>
                <a:srgbClr val="000000"/>
              </a:solidFill>
              <a:effectLst/>
              <a:uFillTx/>
              <a:latin typeface="Arial"/>
            </a:endParaRPr>
          </a:p>
        </p:txBody>
      </p:sp>
      <p:sp>
        <p:nvSpPr>
          <p:cNvPr id="138" name="TextBox 9"/>
          <p:cNvSpPr/>
          <p:nvPr/>
        </p:nvSpPr>
        <p:spPr>
          <a:xfrm>
            <a:off x="887040" y="2459880"/>
            <a:ext cx="2624040" cy="84996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200" b="0" u="none" strike="noStrike">
                <a:solidFill>
                  <a:srgbClr val="617286"/>
                </a:solidFill>
                <a:effectLst/>
                <a:uFillTx/>
                <a:latin typeface="Aptos"/>
              </a:rPr>
              <a:t>React</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617286"/>
                </a:solidFill>
                <a:effectLst/>
                <a:uFillTx/>
                <a:latin typeface="Aptos"/>
              </a:rPr>
              <a:t>Forms, dashboard, tables and user actions.</a:t>
            </a:r>
            <a:endParaRPr lang="en-US" sz="1200" b="0" u="none" strike="noStrike">
              <a:solidFill>
                <a:srgbClr val="000000"/>
              </a:solidFill>
              <a:effectLst/>
              <a:uFillTx/>
              <a:latin typeface="Arial"/>
            </a:endParaRPr>
          </a:p>
        </p:txBody>
      </p:sp>
      <p:sp>
        <p:nvSpPr>
          <p:cNvPr id="139" name="Rounded Rectangle 10"/>
          <p:cNvSpPr/>
          <p:nvPr/>
        </p:nvSpPr>
        <p:spPr>
          <a:xfrm>
            <a:off x="4590360" y="1828800"/>
            <a:ext cx="3017160" cy="159984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0" name="Rectangle 11"/>
          <p:cNvSpPr/>
          <p:nvPr/>
        </p:nvSpPr>
        <p:spPr>
          <a:xfrm>
            <a:off x="4590360" y="1956960"/>
            <a:ext cx="54360" cy="13438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1" name="TextBox 12"/>
          <p:cNvSpPr/>
          <p:nvPr/>
        </p:nvSpPr>
        <p:spPr>
          <a:xfrm>
            <a:off x="4791600" y="2002680"/>
            <a:ext cx="261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u="none" strike="noStrike">
                <a:solidFill>
                  <a:srgbClr val="1D2A3A"/>
                </a:solidFill>
                <a:effectLst/>
                <a:uFillTx/>
                <a:latin typeface="Aptos"/>
              </a:rPr>
              <a:t>02  Backend / API</a:t>
            </a:r>
            <a:endParaRPr lang="en-US" sz="1700" b="0" u="none" strike="noStrike">
              <a:solidFill>
                <a:srgbClr val="000000"/>
              </a:solidFill>
              <a:effectLst/>
              <a:uFillTx/>
              <a:latin typeface="Arial"/>
            </a:endParaRPr>
          </a:p>
        </p:txBody>
      </p:sp>
      <p:sp>
        <p:nvSpPr>
          <p:cNvPr id="142" name="TextBox 13"/>
          <p:cNvSpPr/>
          <p:nvPr/>
        </p:nvSpPr>
        <p:spPr>
          <a:xfrm>
            <a:off x="4791600" y="2459880"/>
            <a:ext cx="2624040" cy="84996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200" b="0" u="none" strike="noStrike">
                <a:solidFill>
                  <a:srgbClr val="617286"/>
                </a:solidFill>
                <a:effectLst/>
                <a:uFillTx/>
                <a:latin typeface="Aptos"/>
              </a:rPr>
              <a:t>Node.js + Express</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617286"/>
                </a:solidFill>
                <a:effectLst/>
                <a:uFillTx/>
                <a:latin typeface="Aptos"/>
              </a:rPr>
              <a:t>Routes, controllers, business rules and authentication.</a:t>
            </a:r>
            <a:endParaRPr lang="en-US" sz="1200" b="0" u="none" strike="noStrike">
              <a:solidFill>
                <a:srgbClr val="000000"/>
              </a:solidFill>
              <a:effectLst/>
              <a:uFillTx/>
              <a:latin typeface="Arial"/>
            </a:endParaRPr>
          </a:p>
        </p:txBody>
      </p:sp>
      <p:sp>
        <p:nvSpPr>
          <p:cNvPr id="143" name="Rounded Rectangle 14"/>
          <p:cNvSpPr/>
          <p:nvPr/>
        </p:nvSpPr>
        <p:spPr>
          <a:xfrm>
            <a:off x="8485560" y="1828800"/>
            <a:ext cx="3017160" cy="159984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4" name="Rectangle 15"/>
          <p:cNvSpPr/>
          <p:nvPr/>
        </p:nvSpPr>
        <p:spPr>
          <a:xfrm>
            <a:off x="8485560" y="1956960"/>
            <a:ext cx="54360" cy="134388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45" name="TextBox 16"/>
          <p:cNvSpPr/>
          <p:nvPr/>
        </p:nvSpPr>
        <p:spPr>
          <a:xfrm>
            <a:off x="8686800" y="2002680"/>
            <a:ext cx="26146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u="none" strike="noStrike">
                <a:solidFill>
                  <a:srgbClr val="1D2A3A"/>
                </a:solidFill>
                <a:effectLst/>
                <a:uFillTx/>
                <a:latin typeface="Aptos"/>
              </a:rPr>
              <a:t>03  Database</a:t>
            </a:r>
            <a:endParaRPr lang="en-US" sz="1700" b="0" u="none" strike="noStrike">
              <a:solidFill>
                <a:srgbClr val="000000"/>
              </a:solidFill>
              <a:effectLst/>
              <a:uFillTx/>
              <a:latin typeface="Arial"/>
            </a:endParaRPr>
          </a:p>
        </p:txBody>
      </p:sp>
      <p:sp>
        <p:nvSpPr>
          <p:cNvPr id="146" name="TextBox 17"/>
          <p:cNvSpPr/>
          <p:nvPr/>
        </p:nvSpPr>
        <p:spPr>
          <a:xfrm>
            <a:off x="8686800" y="2459880"/>
            <a:ext cx="2624040" cy="849960"/>
          </a:xfrm>
          <a:prstGeom prst="rect">
            <a:avLst/>
          </a:prstGeom>
          <a:noFill/>
          <a:ln w="0">
            <a:noFill/>
          </a:ln>
        </p:spPr>
        <p:style>
          <a:lnRef idx="0">
            <a:scrgbClr r="0" g="0" b="0"/>
          </a:lnRef>
          <a:fillRef idx="0">
            <a:scrgbClr r="0" g="0" b="0"/>
          </a:fillRef>
          <a:effectRef idx="0">
            <a:scrgbClr r="0" g="0" b="0"/>
          </a:effectRef>
          <a:fontRef idx="minor"/>
        </p:style>
        <p:txBody>
          <a:bodyPr lIns="9000" tIns="9000" rIns="9000" bIns="9000" anchor="t">
            <a:spAutoFit/>
          </a:bodyPr>
          <a:lstStyle/>
          <a:p>
            <a:pPr defTabSz="457200">
              <a:lnSpc>
                <a:spcPct val="100000"/>
              </a:lnSpc>
            </a:pPr>
            <a:r>
              <a:rPr lang="en-US" sz="1200" b="0" u="none" strike="noStrike">
                <a:solidFill>
                  <a:srgbClr val="617286"/>
                </a:solidFill>
                <a:effectLst/>
                <a:uFillTx/>
                <a:latin typeface="Aptos"/>
              </a:rPr>
              <a:t>MongoDB + Mongoose</a:t>
            </a:r>
            <a:endParaRPr lang="en-US" sz="1200" b="0" u="none" strike="noStrike">
              <a:solidFill>
                <a:srgbClr val="000000"/>
              </a:solidFill>
              <a:effectLst/>
              <a:uFillTx/>
              <a:latin typeface="Arial"/>
            </a:endParaRPr>
          </a:p>
          <a:p>
            <a:pPr defTabSz="457200">
              <a:lnSpc>
                <a:spcPct val="100000"/>
              </a:lnSpc>
            </a:pPr>
            <a:r>
              <a:rPr lang="en-US" sz="1200" b="0" u="none" strike="noStrike">
                <a:solidFill>
                  <a:srgbClr val="617286"/>
                </a:solidFill>
                <a:effectLst/>
                <a:uFillTx/>
                <a:latin typeface="Aptos"/>
              </a:rPr>
              <a:t>Documents, models, references and queries.</a:t>
            </a:r>
            <a:endParaRPr lang="en-US" sz="1200" b="0" u="none" strike="noStrike">
              <a:solidFill>
                <a:srgbClr val="000000"/>
              </a:solidFill>
              <a:effectLst/>
              <a:uFillTx/>
              <a:latin typeface="Arial"/>
            </a:endParaRPr>
          </a:p>
        </p:txBody>
      </p:sp>
      <p:cxnSp>
        <p:nvCxnSpPr>
          <p:cNvPr id="147" name="Connector 18"/>
          <p:cNvCxnSpPr/>
          <p:nvPr/>
        </p:nvCxnSpPr>
        <p:spPr>
          <a:xfrm>
            <a:off x="3794760" y="2505240"/>
            <a:ext cx="667800" cy="360"/>
          </a:xfrm>
          <a:prstGeom prst="straightConnector1">
            <a:avLst/>
          </a:prstGeom>
          <a:ln w="27940">
            <a:solidFill>
              <a:srgbClr val="3576C8"/>
            </a:solidFill>
            <a:round/>
          </a:ln>
        </p:spPr>
      </p:cxnSp>
      <p:cxnSp>
        <p:nvCxnSpPr>
          <p:cNvPr id="148" name="Connector 19"/>
          <p:cNvCxnSpPr/>
          <p:nvPr/>
        </p:nvCxnSpPr>
        <p:spPr>
          <a:xfrm>
            <a:off x="7698960" y="2505240"/>
            <a:ext cx="658800" cy="360"/>
          </a:xfrm>
          <a:prstGeom prst="straightConnector1">
            <a:avLst/>
          </a:prstGeom>
          <a:ln w="27940">
            <a:solidFill>
              <a:srgbClr val="12A89D"/>
            </a:solidFill>
            <a:round/>
          </a:ln>
        </p:spPr>
      </p:cxnSp>
      <p:sp>
        <p:nvSpPr>
          <p:cNvPr id="149" name="TextBox 20"/>
          <p:cNvSpPr/>
          <p:nvPr/>
        </p:nvSpPr>
        <p:spPr>
          <a:xfrm>
            <a:off x="3730680" y="2084760"/>
            <a:ext cx="8042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617286"/>
                </a:solidFill>
                <a:effectLst/>
                <a:uFillTx/>
                <a:latin typeface="Aptos"/>
              </a:rPr>
              <a:t>HTTP / JSON</a:t>
            </a:r>
            <a:endParaRPr lang="en-US" sz="850" b="0" u="none" strike="noStrike">
              <a:solidFill>
                <a:srgbClr val="000000"/>
              </a:solidFill>
              <a:effectLst/>
              <a:uFillTx/>
              <a:latin typeface="Arial"/>
            </a:endParaRPr>
          </a:p>
        </p:txBody>
      </p:sp>
      <p:sp>
        <p:nvSpPr>
          <p:cNvPr id="150" name="TextBox 21"/>
          <p:cNvSpPr/>
          <p:nvPr/>
        </p:nvSpPr>
        <p:spPr>
          <a:xfrm>
            <a:off x="7680960" y="2084760"/>
            <a:ext cx="78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617286"/>
                </a:solidFill>
                <a:effectLst/>
                <a:uFillTx/>
                <a:latin typeface="Aptos"/>
              </a:rPr>
              <a:t>DB queries</a:t>
            </a:r>
            <a:endParaRPr lang="en-US" sz="850" b="0" u="none" strike="noStrike">
              <a:solidFill>
                <a:srgbClr val="000000"/>
              </a:solidFill>
              <a:effectLst/>
              <a:uFillTx/>
              <a:latin typeface="Arial"/>
            </a:endParaRPr>
          </a:p>
        </p:txBody>
      </p:sp>
      <p:sp>
        <p:nvSpPr>
          <p:cNvPr id="151" name="Rounded Rectangle 22"/>
          <p:cNvSpPr/>
          <p:nvPr/>
        </p:nvSpPr>
        <p:spPr>
          <a:xfrm>
            <a:off x="1051560" y="4023360"/>
            <a:ext cx="10103760" cy="62136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52" name="TextBox 23"/>
          <p:cNvSpPr/>
          <p:nvPr/>
        </p:nvSpPr>
        <p:spPr>
          <a:xfrm>
            <a:off x="1298520" y="4224600"/>
            <a:ext cx="1416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00" b="1" u="none" strike="noStrike">
                <a:solidFill>
                  <a:srgbClr val="3576C8"/>
                </a:solidFill>
                <a:effectLst/>
                <a:uFillTx/>
                <a:latin typeface="Aptos"/>
              </a:rPr>
              <a:t>REQUEST FLOW</a:t>
            </a:r>
            <a:endParaRPr lang="en-US" sz="900" b="0" u="none" strike="noStrike">
              <a:solidFill>
                <a:srgbClr val="000000"/>
              </a:solidFill>
              <a:effectLst/>
              <a:uFillTx/>
              <a:latin typeface="Arial"/>
            </a:endParaRPr>
          </a:p>
        </p:txBody>
      </p:sp>
      <p:sp>
        <p:nvSpPr>
          <p:cNvPr id="153" name="TextBox 24"/>
          <p:cNvSpPr/>
          <p:nvPr/>
        </p:nvSpPr>
        <p:spPr>
          <a:xfrm>
            <a:off x="2743200" y="4187880"/>
            <a:ext cx="80006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00" b="1" u="none" strike="noStrike">
                <a:solidFill>
                  <a:srgbClr val="14263D"/>
                </a:solidFill>
                <a:effectLst/>
                <a:uFillTx/>
                <a:latin typeface="Aptos"/>
              </a:rPr>
              <a:t>User action  →  API route  →  validation / business logic  →  database  →  JSON response</a:t>
            </a:r>
            <a:endParaRPr lang="en-US" sz="1200" b="0" u="none" strike="noStrike">
              <a:solidFill>
                <a:srgbClr val="000000"/>
              </a:solidFill>
              <a:effectLst/>
              <a:uFillTx/>
              <a:latin typeface="Arial"/>
            </a:endParaRPr>
          </a:p>
        </p:txBody>
      </p:sp>
      <p:sp>
        <p:nvSpPr>
          <p:cNvPr id="154" name="Rounded Rectangle 25"/>
          <p:cNvSpPr/>
          <p:nvPr/>
        </p:nvSpPr>
        <p:spPr>
          <a:xfrm>
            <a:off x="1051560" y="5029200"/>
            <a:ext cx="2971440" cy="292320"/>
          </a:xfrm>
          <a:prstGeom prst="roundRect">
            <a:avLst>
              <a:gd name="adj" fmla="val 12000"/>
            </a:avLst>
          </a:prstGeom>
          <a:solidFill>
            <a:srgbClr val="E5F7F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55" name="TextBox 26"/>
          <p:cNvSpPr/>
          <p:nvPr/>
        </p:nvSpPr>
        <p:spPr>
          <a:xfrm>
            <a:off x="1106280" y="5052240"/>
            <a:ext cx="28616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087D76"/>
                </a:solidFill>
                <a:effectLst/>
                <a:uFillTx/>
                <a:latin typeface="Aptos"/>
              </a:rPr>
              <a:t>JWT AUTHENTICATION — verify in live build</a:t>
            </a:r>
            <a:endParaRPr lang="en-US" sz="900" b="0" u="none" strike="noStrike">
              <a:solidFill>
                <a:srgbClr val="000000"/>
              </a:solidFill>
              <a:effectLst/>
              <a:uFillTx/>
              <a:latin typeface="Arial"/>
            </a:endParaRPr>
          </a:p>
        </p:txBody>
      </p:sp>
      <p:sp>
        <p:nvSpPr>
          <p:cNvPr id="156" name="Rounded Rectangle 27"/>
          <p:cNvSpPr/>
          <p:nvPr/>
        </p:nvSpPr>
        <p:spPr>
          <a:xfrm>
            <a:off x="4251960" y="5029200"/>
            <a:ext cx="159984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57" name="TextBox 28"/>
          <p:cNvSpPr/>
          <p:nvPr/>
        </p:nvSpPr>
        <p:spPr>
          <a:xfrm>
            <a:off x="4306680" y="5052240"/>
            <a:ext cx="1490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3576C8"/>
                </a:solidFill>
                <a:effectLst/>
                <a:uFillTx/>
                <a:latin typeface="Aptos"/>
              </a:rPr>
              <a:t>Mongoose ODM</a:t>
            </a:r>
            <a:endParaRPr lang="en-US" sz="900" b="0" u="none" strike="noStrike">
              <a:solidFill>
                <a:srgbClr val="000000"/>
              </a:solidFill>
              <a:effectLst/>
              <a:uFillTx/>
              <a:latin typeface="Arial"/>
            </a:endParaRPr>
          </a:p>
        </p:txBody>
      </p:sp>
      <p:sp>
        <p:nvSpPr>
          <p:cNvPr id="158" name="Rounded Rectangle 29"/>
          <p:cNvSpPr/>
          <p:nvPr/>
        </p:nvSpPr>
        <p:spPr>
          <a:xfrm>
            <a:off x="6080760" y="5029200"/>
            <a:ext cx="132552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59" name="TextBox 30"/>
          <p:cNvSpPr/>
          <p:nvPr/>
        </p:nvSpPr>
        <p:spPr>
          <a:xfrm>
            <a:off x="6135480" y="5052240"/>
            <a:ext cx="121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3576C8"/>
                </a:solidFill>
                <a:effectLst/>
                <a:uFillTx/>
                <a:latin typeface="Aptos"/>
              </a:rPr>
              <a:t>REST API</a:t>
            </a:r>
            <a:endParaRPr lang="en-US" sz="9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160"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03 / DATABASE DESIGN</a:t>
            </a:r>
            <a:endParaRPr lang="en-US" sz="950" b="0" u="none" strike="noStrike">
              <a:solidFill>
                <a:srgbClr val="000000"/>
              </a:solidFill>
              <a:effectLst/>
              <a:uFillTx/>
              <a:latin typeface="Arial"/>
            </a:endParaRPr>
          </a:p>
        </p:txBody>
      </p:sp>
      <p:sp>
        <p:nvSpPr>
          <p:cNvPr id="161"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Conceptual Data Model &amp; Relationships</a:t>
            </a:r>
            <a:endParaRPr lang="en-US" sz="2700" b="0" u="none" strike="noStrike">
              <a:solidFill>
                <a:srgbClr val="000000"/>
              </a:solidFill>
              <a:effectLst/>
              <a:uFillTx/>
              <a:latin typeface="Arial"/>
            </a:endParaRPr>
          </a:p>
        </p:txBody>
      </p:sp>
      <p:sp>
        <p:nvSpPr>
          <p:cNvPr id="162"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Core entities and references connect hostel inventory, allocations and complaints.</a:t>
            </a:r>
            <a:endParaRPr lang="en-US" sz="1150" b="0" u="none" strike="noStrike">
              <a:solidFill>
                <a:srgbClr val="000000"/>
              </a:solidFill>
              <a:effectLst/>
              <a:uFillTx/>
              <a:latin typeface="Arial"/>
            </a:endParaRPr>
          </a:p>
        </p:txBody>
      </p:sp>
      <p:sp>
        <p:nvSpPr>
          <p:cNvPr id="163"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164"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04</a:t>
            </a:r>
            <a:endParaRPr lang="en-US" sz="900" b="0" u="none" strike="noStrike">
              <a:solidFill>
                <a:srgbClr val="000000"/>
              </a:solidFill>
              <a:effectLst/>
              <a:uFillTx/>
              <a:latin typeface="Arial"/>
            </a:endParaRPr>
          </a:p>
        </p:txBody>
      </p:sp>
      <p:sp>
        <p:nvSpPr>
          <p:cNvPr id="165" name="Rounded Rectangle 6"/>
          <p:cNvSpPr/>
          <p:nvPr/>
        </p:nvSpPr>
        <p:spPr>
          <a:xfrm>
            <a:off x="594360" y="1847160"/>
            <a:ext cx="2057040" cy="10054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66" name="Rectangle 7"/>
          <p:cNvSpPr/>
          <p:nvPr/>
        </p:nvSpPr>
        <p:spPr>
          <a:xfrm>
            <a:off x="594360" y="1847160"/>
            <a:ext cx="2057040" cy="910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67" name="TextBox 8"/>
          <p:cNvSpPr/>
          <p:nvPr/>
        </p:nvSpPr>
        <p:spPr>
          <a:xfrm>
            <a:off x="704160" y="2030040"/>
            <a:ext cx="1837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HOSTEL</a:t>
            </a:r>
            <a:endParaRPr lang="en-US" sz="1250" b="0" u="none" strike="noStrike">
              <a:solidFill>
                <a:srgbClr val="000000"/>
              </a:solidFill>
              <a:effectLst/>
              <a:uFillTx/>
              <a:latin typeface="Arial"/>
            </a:endParaRPr>
          </a:p>
        </p:txBody>
      </p:sp>
      <p:sp>
        <p:nvSpPr>
          <p:cNvPr id="168" name="TextBox 9"/>
          <p:cNvSpPr/>
          <p:nvPr/>
        </p:nvSpPr>
        <p:spPr>
          <a:xfrm>
            <a:off x="722520" y="2359080"/>
            <a:ext cx="1801080" cy="4201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950" b="0">
                <a:solidFill>
                  <a:srgbClr val="617286"/>
                </a:solidFill>
                <a:latin typeface="Aptos"/>
              </a:rPr>
              <a:t>_id • name • isActive</a:t>
            </a:r>
            <a:endParaRPr lang="en-US" sz="950" b="0" u="none" strike="noStrike">
              <a:solidFill>
                <a:srgbClr val="000000"/>
              </a:solidFill>
              <a:effectLst/>
              <a:uFillTx/>
              <a:latin typeface="Arial"/>
            </a:endParaRPr>
          </a:p>
        </p:txBody>
      </p:sp>
      <p:sp>
        <p:nvSpPr>
          <p:cNvPr id="169" name="Rounded Rectangle 10"/>
          <p:cNvSpPr/>
          <p:nvPr/>
        </p:nvSpPr>
        <p:spPr>
          <a:xfrm>
            <a:off x="3200400" y="1847160"/>
            <a:ext cx="2057040" cy="10054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70" name="Rectangle 11"/>
          <p:cNvSpPr/>
          <p:nvPr/>
        </p:nvSpPr>
        <p:spPr>
          <a:xfrm>
            <a:off x="3200400" y="1847160"/>
            <a:ext cx="2057040" cy="910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71" name="TextBox 12"/>
          <p:cNvSpPr/>
          <p:nvPr/>
        </p:nvSpPr>
        <p:spPr>
          <a:xfrm>
            <a:off x="3310200" y="2030040"/>
            <a:ext cx="1837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ROOM</a:t>
            </a:r>
            <a:endParaRPr lang="en-US" sz="1250" b="0" u="none" strike="noStrike">
              <a:solidFill>
                <a:srgbClr val="000000"/>
              </a:solidFill>
              <a:effectLst/>
              <a:uFillTx/>
              <a:latin typeface="Arial"/>
            </a:endParaRPr>
          </a:p>
        </p:txBody>
      </p:sp>
      <p:sp>
        <p:nvSpPr>
          <p:cNvPr id="172" name="TextBox 13"/>
          <p:cNvSpPr/>
          <p:nvPr/>
        </p:nvSpPr>
        <p:spPr>
          <a:xfrm>
            <a:off x="3328560" y="2359080"/>
            <a:ext cx="1801080" cy="4201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919" b="0">
                <a:solidFill>
                  <a:srgbClr val="617286"/>
                </a:solidFill>
                <a:latin typeface="Aptos"/>
              </a:rPr>
              <a:t>_id • hostel reference • status</a:t>
            </a:r>
            <a:endParaRPr lang="en-US" sz="950" b="0" u="none" strike="noStrike">
              <a:solidFill>
                <a:srgbClr val="000000"/>
              </a:solidFill>
              <a:effectLst/>
              <a:uFillTx/>
              <a:latin typeface="Arial"/>
            </a:endParaRPr>
          </a:p>
        </p:txBody>
      </p:sp>
      <p:sp>
        <p:nvSpPr>
          <p:cNvPr id="173" name="Rounded Rectangle 14"/>
          <p:cNvSpPr/>
          <p:nvPr/>
        </p:nvSpPr>
        <p:spPr>
          <a:xfrm>
            <a:off x="5806440" y="1847160"/>
            <a:ext cx="2057040" cy="10054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74" name="Rectangle 15"/>
          <p:cNvSpPr/>
          <p:nvPr/>
        </p:nvSpPr>
        <p:spPr>
          <a:xfrm>
            <a:off x="5806440" y="1847160"/>
            <a:ext cx="2057040" cy="9108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75" name="TextBox 16"/>
          <p:cNvSpPr/>
          <p:nvPr/>
        </p:nvSpPr>
        <p:spPr>
          <a:xfrm>
            <a:off x="5916240" y="2030040"/>
            <a:ext cx="1837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BED</a:t>
            </a:r>
            <a:endParaRPr lang="en-US" sz="1250" b="0" u="none" strike="noStrike">
              <a:solidFill>
                <a:srgbClr val="000000"/>
              </a:solidFill>
              <a:effectLst/>
              <a:uFillTx/>
              <a:latin typeface="Arial"/>
            </a:endParaRPr>
          </a:p>
        </p:txBody>
      </p:sp>
      <p:sp>
        <p:nvSpPr>
          <p:cNvPr id="176" name="TextBox 17"/>
          <p:cNvSpPr/>
          <p:nvPr/>
        </p:nvSpPr>
        <p:spPr>
          <a:xfrm>
            <a:off x="5934600" y="2359080"/>
            <a:ext cx="1801080" cy="4201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880" b="0">
                <a:solidFill>
                  <a:srgbClr val="617286"/>
                </a:solidFill>
                <a:latin typeface="Aptos"/>
              </a:rPr>
              <a:t>_id • room reference • usable/maintenance</a:t>
            </a:r>
            <a:endParaRPr lang="en-US" sz="950" b="0" u="none" strike="noStrike">
              <a:solidFill>
                <a:srgbClr val="000000"/>
              </a:solidFill>
              <a:effectLst/>
              <a:uFillTx/>
              <a:latin typeface="Arial"/>
            </a:endParaRPr>
          </a:p>
        </p:txBody>
      </p:sp>
      <p:sp>
        <p:nvSpPr>
          <p:cNvPr id="177" name="Rounded Rectangle 18"/>
          <p:cNvSpPr/>
          <p:nvPr/>
        </p:nvSpPr>
        <p:spPr>
          <a:xfrm>
            <a:off x="8412480" y="1847160"/>
            <a:ext cx="2971440" cy="10054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78" name="Rectangle 19"/>
          <p:cNvSpPr/>
          <p:nvPr/>
        </p:nvSpPr>
        <p:spPr>
          <a:xfrm>
            <a:off x="8412480" y="1847160"/>
            <a:ext cx="2971440" cy="910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79" name="TextBox 20"/>
          <p:cNvSpPr/>
          <p:nvPr/>
        </p:nvSpPr>
        <p:spPr>
          <a:xfrm>
            <a:off x="8522280" y="2030040"/>
            <a:ext cx="2751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ALLOCATION</a:t>
            </a:r>
            <a:endParaRPr lang="en-US" sz="1250" b="0" u="none" strike="noStrike">
              <a:solidFill>
                <a:srgbClr val="000000"/>
              </a:solidFill>
              <a:effectLst/>
              <a:uFillTx/>
              <a:latin typeface="Arial"/>
            </a:endParaRPr>
          </a:p>
        </p:txBody>
      </p:sp>
      <p:sp>
        <p:nvSpPr>
          <p:cNvPr id="180" name="TextBox 21"/>
          <p:cNvSpPr/>
          <p:nvPr/>
        </p:nvSpPr>
        <p:spPr>
          <a:xfrm>
            <a:off x="8540640" y="2359080"/>
            <a:ext cx="2715480" cy="4201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900" b="0">
                <a:solidFill>
                  <a:srgbClr val="617286"/>
                </a:solidFill>
                <a:latin typeface="Aptos"/>
              </a:rPr>
              <a:t>student ref • bed ref • status • timestamps</a:t>
            </a:r>
            <a:endParaRPr lang="en-US" sz="950" b="0" u="none" strike="noStrike">
              <a:solidFill>
                <a:srgbClr val="000000"/>
              </a:solidFill>
              <a:effectLst/>
              <a:uFillTx/>
              <a:latin typeface="Arial"/>
            </a:endParaRPr>
          </a:p>
        </p:txBody>
      </p:sp>
      <p:cxnSp>
        <p:nvCxnSpPr>
          <p:cNvPr id="181" name="Connector 22"/>
          <p:cNvCxnSpPr/>
          <p:nvPr/>
        </p:nvCxnSpPr>
        <p:spPr>
          <a:xfrm>
            <a:off x="2697480" y="2331720"/>
            <a:ext cx="439200" cy="360"/>
          </a:xfrm>
          <a:prstGeom prst="straightConnector1">
            <a:avLst/>
          </a:prstGeom>
          <a:ln w="22860">
            <a:solidFill>
              <a:srgbClr val="12A89D"/>
            </a:solidFill>
            <a:round/>
          </a:ln>
        </p:spPr>
      </p:cxnSp>
      <p:cxnSp>
        <p:nvCxnSpPr>
          <p:cNvPr id="182" name="Connector 23"/>
          <p:cNvCxnSpPr/>
          <p:nvPr/>
        </p:nvCxnSpPr>
        <p:spPr>
          <a:xfrm>
            <a:off x="5303520" y="2331720"/>
            <a:ext cx="439200" cy="360"/>
          </a:xfrm>
          <a:prstGeom prst="straightConnector1">
            <a:avLst/>
          </a:prstGeom>
          <a:ln w="22860">
            <a:solidFill>
              <a:srgbClr val="12A89D"/>
            </a:solidFill>
            <a:round/>
          </a:ln>
        </p:spPr>
      </p:cxnSp>
      <p:cxnSp>
        <p:nvCxnSpPr>
          <p:cNvPr id="183" name="Connector 24"/>
          <p:cNvCxnSpPr/>
          <p:nvPr/>
        </p:nvCxnSpPr>
        <p:spPr>
          <a:xfrm>
            <a:off x="7909560" y="2331720"/>
            <a:ext cx="439200" cy="360"/>
          </a:xfrm>
          <a:prstGeom prst="straightConnector1">
            <a:avLst/>
          </a:prstGeom>
          <a:ln w="22860">
            <a:solidFill>
              <a:srgbClr val="12A89D"/>
            </a:solidFill>
            <a:round/>
          </a:ln>
        </p:spPr>
      </p:cxnSp>
      <p:sp>
        <p:nvSpPr>
          <p:cNvPr id="184" name="TextBox 25"/>
          <p:cNvSpPr/>
          <p:nvPr/>
        </p:nvSpPr>
        <p:spPr>
          <a:xfrm>
            <a:off x="2724840" y="2030040"/>
            <a:ext cx="3837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087D76"/>
                </a:solidFill>
                <a:effectLst/>
                <a:uFillTx/>
                <a:latin typeface="Aptos"/>
              </a:rPr>
              <a:t>1 : N</a:t>
            </a:r>
            <a:endParaRPr lang="en-US" sz="850" b="0" u="none" strike="noStrike">
              <a:solidFill>
                <a:srgbClr val="000000"/>
              </a:solidFill>
              <a:effectLst/>
              <a:uFillTx/>
              <a:latin typeface="Arial"/>
            </a:endParaRPr>
          </a:p>
        </p:txBody>
      </p:sp>
      <p:sp>
        <p:nvSpPr>
          <p:cNvPr id="185" name="TextBox 26"/>
          <p:cNvSpPr/>
          <p:nvPr/>
        </p:nvSpPr>
        <p:spPr>
          <a:xfrm>
            <a:off x="5330880" y="2030040"/>
            <a:ext cx="3837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087D76"/>
                </a:solidFill>
                <a:effectLst/>
                <a:uFillTx/>
                <a:latin typeface="Aptos"/>
              </a:rPr>
              <a:t>1 : N</a:t>
            </a:r>
            <a:endParaRPr lang="en-US" sz="850" b="0" u="none" strike="noStrike">
              <a:solidFill>
                <a:srgbClr val="000000"/>
              </a:solidFill>
              <a:effectLst/>
              <a:uFillTx/>
              <a:latin typeface="Arial"/>
            </a:endParaRPr>
          </a:p>
        </p:txBody>
      </p:sp>
      <p:sp>
        <p:nvSpPr>
          <p:cNvPr id="186" name="TextBox 27"/>
          <p:cNvSpPr/>
          <p:nvPr/>
        </p:nvSpPr>
        <p:spPr>
          <a:xfrm>
            <a:off x="7936920" y="2030040"/>
            <a:ext cx="438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087D76"/>
                </a:solidFill>
                <a:effectLst/>
                <a:uFillTx/>
                <a:latin typeface="Aptos"/>
              </a:rPr>
              <a:t>1 : N*</a:t>
            </a:r>
            <a:endParaRPr lang="en-US" sz="850" b="0" u="none" strike="noStrike">
              <a:solidFill>
                <a:srgbClr val="000000"/>
              </a:solidFill>
              <a:effectLst/>
              <a:uFillTx/>
              <a:latin typeface="Arial"/>
            </a:endParaRPr>
          </a:p>
        </p:txBody>
      </p:sp>
      <p:sp>
        <p:nvSpPr>
          <p:cNvPr id="187" name="Rounded Rectangle 28"/>
          <p:cNvSpPr/>
          <p:nvPr/>
        </p:nvSpPr>
        <p:spPr>
          <a:xfrm>
            <a:off x="1078920" y="3794760"/>
            <a:ext cx="2422800" cy="10785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88" name="Rectangle 29"/>
          <p:cNvSpPr/>
          <p:nvPr/>
        </p:nvSpPr>
        <p:spPr>
          <a:xfrm>
            <a:off x="1078920" y="3794760"/>
            <a:ext cx="2422800" cy="910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89" name="TextBox 30"/>
          <p:cNvSpPr/>
          <p:nvPr/>
        </p:nvSpPr>
        <p:spPr>
          <a:xfrm>
            <a:off x="1188720" y="3977640"/>
            <a:ext cx="2203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USER</a:t>
            </a:r>
            <a:endParaRPr lang="en-US" sz="1250" b="0" u="none" strike="noStrike">
              <a:solidFill>
                <a:srgbClr val="000000"/>
              </a:solidFill>
              <a:effectLst/>
              <a:uFillTx/>
              <a:latin typeface="Arial"/>
            </a:endParaRPr>
          </a:p>
        </p:txBody>
      </p:sp>
      <p:sp>
        <p:nvSpPr>
          <p:cNvPr id="190" name="TextBox 31"/>
          <p:cNvSpPr/>
          <p:nvPr/>
        </p:nvSpPr>
        <p:spPr>
          <a:xfrm>
            <a:off x="1207080" y="4306680"/>
            <a:ext cx="2166840" cy="493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950" b="0">
                <a:solidFill>
                  <a:srgbClr val="617286"/>
                </a:solidFill>
                <a:latin typeface="Aptos"/>
              </a:rPr>
              <a:t>_id • name • email • role</a:t>
            </a:r>
            <a:endParaRPr lang="en-US" sz="950" b="0" u="none" strike="noStrike">
              <a:solidFill>
                <a:srgbClr val="000000"/>
              </a:solidFill>
              <a:effectLst/>
              <a:uFillTx/>
              <a:latin typeface="Arial"/>
            </a:endParaRPr>
          </a:p>
        </p:txBody>
      </p:sp>
      <p:sp>
        <p:nvSpPr>
          <p:cNvPr id="191" name="Rounded Rectangle 32"/>
          <p:cNvSpPr/>
          <p:nvPr/>
        </p:nvSpPr>
        <p:spPr>
          <a:xfrm>
            <a:off x="4590360" y="3794760"/>
            <a:ext cx="2422800" cy="10785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92" name="Rectangle 33"/>
          <p:cNvSpPr/>
          <p:nvPr/>
        </p:nvSpPr>
        <p:spPr>
          <a:xfrm>
            <a:off x="4590360" y="3794760"/>
            <a:ext cx="2422800" cy="910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93" name="TextBox 34"/>
          <p:cNvSpPr/>
          <p:nvPr/>
        </p:nvSpPr>
        <p:spPr>
          <a:xfrm>
            <a:off x="4700160" y="3977640"/>
            <a:ext cx="2203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COMPLAINT</a:t>
            </a:r>
            <a:endParaRPr lang="en-US" sz="1250" b="0" u="none" strike="noStrike">
              <a:solidFill>
                <a:srgbClr val="000000"/>
              </a:solidFill>
              <a:effectLst/>
              <a:uFillTx/>
              <a:latin typeface="Arial"/>
            </a:endParaRPr>
          </a:p>
        </p:txBody>
      </p:sp>
      <p:sp>
        <p:nvSpPr>
          <p:cNvPr id="194" name="TextBox 35"/>
          <p:cNvSpPr/>
          <p:nvPr/>
        </p:nvSpPr>
        <p:spPr>
          <a:xfrm>
            <a:off x="4718160" y="4306680"/>
            <a:ext cx="2166840" cy="493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900" b="0">
                <a:solidFill>
                  <a:srgbClr val="617286"/>
                </a:solidFill>
                <a:latin typeface="Aptos"/>
              </a:rPr>
              <a:t>student ref • status • assigned staff ref</a:t>
            </a:r>
            <a:endParaRPr lang="en-US" sz="950" b="0" u="none" strike="noStrike">
              <a:solidFill>
                <a:srgbClr val="000000"/>
              </a:solidFill>
              <a:effectLst/>
              <a:uFillTx/>
              <a:latin typeface="Arial"/>
            </a:endParaRPr>
          </a:p>
        </p:txBody>
      </p:sp>
      <p:sp>
        <p:nvSpPr>
          <p:cNvPr id="195" name="Rounded Rectangle 36"/>
          <p:cNvSpPr/>
          <p:nvPr/>
        </p:nvSpPr>
        <p:spPr>
          <a:xfrm>
            <a:off x="8321040" y="3794760"/>
            <a:ext cx="2422800" cy="10785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96" name="Rectangle 37"/>
          <p:cNvSpPr/>
          <p:nvPr/>
        </p:nvSpPr>
        <p:spPr>
          <a:xfrm>
            <a:off x="8321040" y="3794760"/>
            <a:ext cx="2422800" cy="9108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197" name="TextBox 38"/>
          <p:cNvSpPr/>
          <p:nvPr/>
        </p:nvSpPr>
        <p:spPr>
          <a:xfrm>
            <a:off x="8430840" y="3977640"/>
            <a:ext cx="2203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250" b="1" u="none" strike="noStrike">
                <a:solidFill>
                  <a:srgbClr val="14263D"/>
                </a:solidFill>
                <a:effectLst/>
                <a:uFillTx/>
                <a:latin typeface="Aptos"/>
              </a:rPr>
              <a:t>MAINTENANCE STAFF</a:t>
            </a:r>
            <a:endParaRPr lang="en-US" sz="1250" b="0" u="none" strike="noStrike">
              <a:solidFill>
                <a:srgbClr val="000000"/>
              </a:solidFill>
              <a:effectLst/>
              <a:uFillTx/>
              <a:latin typeface="Arial"/>
            </a:endParaRPr>
          </a:p>
        </p:txBody>
      </p:sp>
      <p:sp>
        <p:nvSpPr>
          <p:cNvPr id="198" name="TextBox 39"/>
          <p:cNvSpPr/>
          <p:nvPr/>
        </p:nvSpPr>
        <p:spPr>
          <a:xfrm>
            <a:off x="8449200" y="4306680"/>
            <a:ext cx="2166840" cy="493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890" b="0">
                <a:solidFill>
                  <a:srgbClr val="617286"/>
                </a:solidFill>
                <a:latin typeface="Aptos"/>
              </a:rPr>
              <a:t>Represented by a User with staff role</a:t>
            </a:r>
            <a:endParaRPr lang="en-US" sz="950" b="0" u="none" strike="noStrike">
              <a:solidFill>
                <a:srgbClr val="000000"/>
              </a:solidFill>
              <a:effectLst/>
              <a:uFillTx/>
              <a:latin typeface="Arial"/>
            </a:endParaRPr>
          </a:p>
        </p:txBody>
      </p:sp>
      <p:cxnSp>
        <p:nvCxnSpPr>
          <p:cNvPr id="199" name="Connector 40"/>
          <p:cNvCxnSpPr/>
          <p:nvPr/>
        </p:nvCxnSpPr>
        <p:spPr>
          <a:xfrm>
            <a:off x="3547800" y="4325040"/>
            <a:ext cx="969480" cy="360"/>
          </a:xfrm>
          <a:prstGeom prst="straightConnector1">
            <a:avLst/>
          </a:prstGeom>
          <a:ln w="22860">
            <a:solidFill>
              <a:srgbClr val="3576C8"/>
            </a:solidFill>
            <a:round/>
          </a:ln>
        </p:spPr>
      </p:cxnSp>
      <p:cxnSp>
        <p:nvCxnSpPr>
          <p:cNvPr id="200" name="Connector 41"/>
          <p:cNvCxnSpPr/>
          <p:nvPr/>
        </p:nvCxnSpPr>
        <p:spPr>
          <a:xfrm>
            <a:off x="7058880" y="4325040"/>
            <a:ext cx="1189080" cy="360"/>
          </a:xfrm>
          <a:prstGeom prst="straightConnector1">
            <a:avLst/>
          </a:prstGeom>
          <a:ln w="22860">
            <a:solidFill>
              <a:srgbClr val="12A89D"/>
            </a:solidFill>
            <a:round/>
          </a:ln>
        </p:spPr>
      </p:cxnSp>
      <p:sp>
        <p:nvSpPr>
          <p:cNvPr id="201" name="TextBox 42"/>
          <p:cNvSpPr/>
          <p:nvPr/>
        </p:nvSpPr>
        <p:spPr>
          <a:xfrm>
            <a:off x="3657600" y="4023360"/>
            <a:ext cx="712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617286"/>
                </a:solidFill>
                <a:effectLst/>
                <a:uFillTx/>
                <a:latin typeface="Aptos"/>
              </a:rPr>
              <a:t>submits</a:t>
            </a:r>
            <a:endParaRPr lang="en-US" sz="850" b="0" u="none" strike="noStrike">
              <a:solidFill>
                <a:srgbClr val="000000"/>
              </a:solidFill>
              <a:effectLst/>
              <a:uFillTx/>
              <a:latin typeface="Arial"/>
            </a:endParaRPr>
          </a:p>
        </p:txBody>
      </p:sp>
      <p:sp>
        <p:nvSpPr>
          <p:cNvPr id="202" name="TextBox 43"/>
          <p:cNvSpPr/>
          <p:nvPr/>
        </p:nvSpPr>
        <p:spPr>
          <a:xfrm>
            <a:off x="7169040" y="4023360"/>
            <a:ext cx="9597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850" b="1" u="none" strike="noStrike">
                <a:solidFill>
                  <a:srgbClr val="617286"/>
                </a:solidFill>
                <a:effectLst/>
                <a:uFillTx/>
                <a:latin typeface="Aptos"/>
              </a:rPr>
              <a:t>assigned to</a:t>
            </a:r>
            <a:endParaRPr lang="en-US" sz="8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03"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04 / DATA CORRECTNESS</a:t>
            </a:r>
            <a:endParaRPr lang="en-US" sz="950" b="0" u="none" strike="noStrike">
              <a:solidFill>
                <a:srgbClr val="000000"/>
              </a:solidFill>
              <a:effectLst/>
              <a:uFillTx/>
              <a:latin typeface="Arial"/>
            </a:endParaRPr>
          </a:p>
        </p:txBody>
      </p:sp>
      <p:sp>
        <p:nvSpPr>
          <p:cNvPr id="204"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Schema Design &amp; Data Integrity</a:t>
            </a:r>
            <a:endParaRPr lang="en-US" sz="2700" b="0" u="none" strike="noStrike">
              <a:solidFill>
                <a:srgbClr val="000000"/>
              </a:solidFill>
              <a:effectLst/>
              <a:uFillTx/>
              <a:latin typeface="Arial"/>
            </a:endParaRPr>
          </a:p>
        </p:txBody>
      </p:sp>
      <p:sp>
        <p:nvSpPr>
          <p:cNvPr id="205"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Schema rules, indexes and transaction boundaries help keep records valid and consistent.</a:t>
            </a:r>
            <a:endParaRPr lang="en-US" sz="1150" b="0" u="none" strike="noStrike">
              <a:solidFill>
                <a:srgbClr val="000000"/>
              </a:solidFill>
              <a:effectLst/>
              <a:uFillTx/>
              <a:latin typeface="Arial"/>
            </a:endParaRPr>
          </a:p>
        </p:txBody>
      </p:sp>
      <p:sp>
        <p:nvSpPr>
          <p:cNvPr id="206"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207"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05</a:t>
            </a:r>
            <a:endParaRPr lang="en-US" sz="900" b="0" u="none" strike="noStrike">
              <a:solidFill>
                <a:srgbClr val="000000"/>
              </a:solidFill>
              <a:effectLst/>
              <a:uFillTx/>
              <a:latin typeface="Arial"/>
            </a:endParaRPr>
          </a:p>
        </p:txBody>
      </p:sp>
      <p:sp>
        <p:nvSpPr>
          <p:cNvPr id="208" name="Rounded Rectangle 6"/>
          <p:cNvSpPr/>
          <p:nvPr/>
        </p:nvSpPr>
        <p:spPr>
          <a:xfrm>
            <a:off x="621720" y="1755720"/>
            <a:ext cx="5348880" cy="13528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09" name="Rectangle 7"/>
          <p:cNvSpPr/>
          <p:nvPr/>
        </p:nvSpPr>
        <p:spPr>
          <a:xfrm>
            <a:off x="621720" y="1883520"/>
            <a:ext cx="54360" cy="109692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10" name="TextBox 8"/>
          <p:cNvSpPr/>
          <p:nvPr/>
        </p:nvSpPr>
        <p:spPr>
          <a:xfrm>
            <a:off x="822960" y="1929240"/>
            <a:ext cx="49464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600" b="1">
                <a:solidFill>
                  <a:srgbClr val="1D2A3A"/>
                </a:solidFill>
                <a:latin typeface="Aptos"/>
              </a:rPr>
              <a:t>Identifiers &amp; references</a:t>
            </a:r>
            <a:endParaRPr lang="en-US" sz="1600" b="0" u="none" strike="noStrike">
              <a:solidFill>
                <a:srgbClr val="000000"/>
              </a:solidFill>
              <a:effectLst/>
              <a:uFillTx/>
              <a:latin typeface="Arial"/>
            </a:endParaRPr>
          </a:p>
        </p:txBody>
      </p:sp>
      <p:sp>
        <p:nvSpPr>
          <p:cNvPr id="211" name="TextBox 9"/>
          <p:cNvSpPr/>
          <p:nvPr/>
        </p:nvSpPr>
        <p:spPr>
          <a:xfrm>
            <a:off x="822960" y="2386440"/>
            <a:ext cx="4955760" cy="60300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140" b="0">
                <a:solidFill>
                  <a:srgbClr val="617286"/>
                </a:solidFill>
                <a:latin typeface="Aptos"/>
              </a:rPr>
              <a:t>MongoDB assigns each document an _id. ObjectId references connect users, hostels, rooms, beds, allocations and complaints.</a:t>
            </a:r>
            <a:endParaRPr lang="en-US" sz="1200" b="0" u="none" strike="noStrike">
              <a:solidFill>
                <a:srgbClr val="000000"/>
              </a:solidFill>
              <a:effectLst/>
              <a:uFillTx/>
              <a:latin typeface="Arial"/>
            </a:endParaRPr>
          </a:p>
        </p:txBody>
      </p:sp>
      <p:sp>
        <p:nvSpPr>
          <p:cNvPr id="212" name="Rounded Rectangle 10"/>
          <p:cNvSpPr/>
          <p:nvPr/>
        </p:nvSpPr>
        <p:spPr>
          <a:xfrm>
            <a:off x="6217920" y="1755720"/>
            <a:ext cx="5348880" cy="13528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13" name="Rectangle 11"/>
          <p:cNvSpPr/>
          <p:nvPr/>
        </p:nvSpPr>
        <p:spPr>
          <a:xfrm>
            <a:off x="6217920" y="1883520"/>
            <a:ext cx="54360" cy="109692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14" name="TextBox 12"/>
          <p:cNvSpPr/>
          <p:nvPr/>
        </p:nvSpPr>
        <p:spPr>
          <a:xfrm>
            <a:off x="6419160" y="1929240"/>
            <a:ext cx="49464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600" b="1">
                <a:solidFill>
                  <a:srgbClr val="1D2A3A"/>
                </a:solidFill>
                <a:latin typeface="Aptos"/>
              </a:rPr>
              <a:t>Validation &amp; allowed values</a:t>
            </a:r>
            <a:endParaRPr lang="en-US" sz="1600" b="0" u="none" strike="noStrike">
              <a:solidFill>
                <a:srgbClr val="000000"/>
              </a:solidFill>
              <a:effectLst/>
              <a:uFillTx/>
              <a:latin typeface="Arial"/>
            </a:endParaRPr>
          </a:p>
        </p:txBody>
      </p:sp>
      <p:sp>
        <p:nvSpPr>
          <p:cNvPr id="215" name="TextBox 13"/>
          <p:cNvSpPr/>
          <p:nvPr/>
        </p:nvSpPr>
        <p:spPr>
          <a:xfrm>
            <a:off x="6419160" y="2386440"/>
            <a:ext cx="4955760" cy="60300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140" b="0">
                <a:solidFill>
                  <a:srgbClr val="617286"/>
                </a:solidFill>
                <a:latin typeface="Aptos"/>
              </a:rPr>
              <a:t>Mongoose schema rules and API validation check required fields, valid IDs and allowed statuses such as active or vacated.</a:t>
            </a:r>
            <a:endParaRPr lang="en-US" sz="1200" b="0" u="none" strike="noStrike">
              <a:solidFill>
                <a:srgbClr val="000000"/>
              </a:solidFill>
              <a:effectLst/>
              <a:uFillTx/>
              <a:latin typeface="Arial"/>
            </a:endParaRPr>
          </a:p>
        </p:txBody>
      </p:sp>
      <p:sp>
        <p:nvSpPr>
          <p:cNvPr id="216" name="Rounded Rectangle 14"/>
          <p:cNvSpPr/>
          <p:nvPr/>
        </p:nvSpPr>
        <p:spPr>
          <a:xfrm>
            <a:off x="621720" y="3401640"/>
            <a:ext cx="5348880" cy="13528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17" name="Rectangle 15"/>
          <p:cNvSpPr/>
          <p:nvPr/>
        </p:nvSpPr>
        <p:spPr>
          <a:xfrm>
            <a:off x="621720" y="3529440"/>
            <a:ext cx="54360" cy="109692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18" name="TextBox 16"/>
          <p:cNvSpPr/>
          <p:nvPr/>
        </p:nvSpPr>
        <p:spPr>
          <a:xfrm>
            <a:off x="822960" y="3575160"/>
            <a:ext cx="49464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600" b="1">
                <a:solidFill>
                  <a:srgbClr val="1D2A3A"/>
                </a:solidFill>
                <a:latin typeface="Aptos"/>
              </a:rPr>
              <a:t>Uniqueness constraints</a:t>
            </a:r>
            <a:endParaRPr lang="en-US" sz="1600" b="0" u="none" strike="noStrike">
              <a:solidFill>
                <a:srgbClr val="000000"/>
              </a:solidFill>
              <a:effectLst/>
              <a:uFillTx/>
              <a:latin typeface="Arial"/>
            </a:endParaRPr>
          </a:p>
        </p:txBody>
      </p:sp>
      <p:sp>
        <p:nvSpPr>
          <p:cNvPr id="219" name="TextBox 17"/>
          <p:cNvSpPr/>
          <p:nvPr/>
        </p:nvSpPr>
        <p:spPr>
          <a:xfrm>
            <a:off x="822960" y="4032360"/>
            <a:ext cx="4955760" cy="60300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140" b="0">
                <a:solidFill>
                  <a:srgbClr val="617286"/>
                </a:solidFill>
                <a:latin typeface="Aptos"/>
              </a:rPr>
              <a:t>Partial unique indexes prevent more than one active allocation per student and more than one active allocation per bed.</a:t>
            </a:r>
            <a:endParaRPr lang="en-US" sz="1200" b="0" u="none" strike="noStrike">
              <a:solidFill>
                <a:srgbClr val="000000"/>
              </a:solidFill>
              <a:effectLst/>
              <a:uFillTx/>
              <a:latin typeface="Arial"/>
            </a:endParaRPr>
          </a:p>
        </p:txBody>
      </p:sp>
      <p:sp>
        <p:nvSpPr>
          <p:cNvPr id="220" name="Rounded Rectangle 18"/>
          <p:cNvSpPr/>
          <p:nvPr/>
        </p:nvSpPr>
        <p:spPr>
          <a:xfrm>
            <a:off x="6217920" y="3401640"/>
            <a:ext cx="5348880" cy="13528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21" name="Rectangle 19"/>
          <p:cNvSpPr/>
          <p:nvPr/>
        </p:nvSpPr>
        <p:spPr>
          <a:xfrm>
            <a:off x="6217920" y="3529440"/>
            <a:ext cx="54360" cy="109692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22" name="TextBox 20"/>
          <p:cNvSpPr/>
          <p:nvPr/>
        </p:nvSpPr>
        <p:spPr>
          <a:xfrm>
            <a:off x="6419160" y="3575160"/>
            <a:ext cx="49464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600" b="1">
                <a:solidFill>
                  <a:srgbClr val="1D2A3A"/>
                </a:solidFill>
                <a:latin typeface="Aptos"/>
              </a:rPr>
              <a:t>Transactions &amp; concurrency</a:t>
            </a:r>
            <a:endParaRPr lang="en-US" sz="1600" b="0" u="none" strike="noStrike">
              <a:solidFill>
                <a:srgbClr val="000000"/>
              </a:solidFill>
              <a:effectLst/>
              <a:uFillTx/>
              <a:latin typeface="Arial"/>
            </a:endParaRPr>
          </a:p>
        </p:txBody>
      </p:sp>
      <p:sp>
        <p:nvSpPr>
          <p:cNvPr id="223" name="TextBox 21"/>
          <p:cNvSpPr/>
          <p:nvPr/>
        </p:nvSpPr>
        <p:spPr>
          <a:xfrm>
            <a:off x="6419160" y="4032360"/>
            <a:ext cx="4955760" cy="60300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140" b="0">
                <a:solidFill>
                  <a:srgbClr val="617286"/>
                </a:solidFill>
                <a:latin typeface="Aptos"/>
              </a:rPr>
              <a:t>Allocation checks and insertion run in a transaction; unique indexes provide a final safeguard against concurrent duplicate requests.</a:t>
            </a:r>
            <a:endParaRPr lang="en-US" sz="12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24"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05 / APPLICATION WORKFLOWS</a:t>
            </a:r>
            <a:endParaRPr lang="en-US" sz="950" b="0" u="none" strike="noStrike">
              <a:solidFill>
                <a:srgbClr val="000000"/>
              </a:solidFill>
              <a:effectLst/>
              <a:uFillTx/>
              <a:latin typeface="Arial"/>
            </a:endParaRPr>
          </a:p>
        </p:txBody>
      </p:sp>
      <p:sp>
        <p:nvSpPr>
          <p:cNvPr id="225"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Three Core Workflows</a:t>
            </a:r>
            <a:endParaRPr lang="en-US" sz="2700" b="0" u="none" strike="noStrike">
              <a:solidFill>
                <a:srgbClr val="000000"/>
              </a:solidFill>
              <a:effectLst/>
              <a:uFillTx/>
              <a:latin typeface="Arial"/>
            </a:endParaRPr>
          </a:p>
        </p:txBody>
      </p:sp>
      <p:sp>
        <p:nvSpPr>
          <p:cNvPr id="226"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Three database-backed workflows form the selected project scope.</a:t>
            </a:r>
            <a:endParaRPr lang="en-US" sz="1150" b="0" u="none" strike="noStrike">
              <a:solidFill>
                <a:srgbClr val="000000"/>
              </a:solidFill>
              <a:effectLst/>
              <a:uFillTx/>
              <a:latin typeface="Arial"/>
            </a:endParaRPr>
          </a:p>
        </p:txBody>
      </p:sp>
      <p:sp>
        <p:nvSpPr>
          <p:cNvPr id="227"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228"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06</a:t>
            </a:r>
            <a:endParaRPr lang="en-US" sz="900" b="0" u="none" strike="noStrike">
              <a:solidFill>
                <a:srgbClr val="000000"/>
              </a:solidFill>
              <a:effectLst/>
              <a:uFillTx/>
              <a:latin typeface="Arial"/>
            </a:endParaRPr>
          </a:p>
        </p:txBody>
      </p:sp>
      <p:sp>
        <p:nvSpPr>
          <p:cNvPr id="229" name="Rounded Rectangle 6"/>
          <p:cNvSpPr/>
          <p:nvPr/>
        </p:nvSpPr>
        <p:spPr>
          <a:xfrm>
            <a:off x="621720" y="1783080"/>
            <a:ext cx="3456000" cy="4068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0" name="Rectangle 7"/>
          <p:cNvSpPr/>
          <p:nvPr/>
        </p:nvSpPr>
        <p:spPr>
          <a:xfrm>
            <a:off x="621720" y="1783080"/>
            <a:ext cx="3456000" cy="910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1" name="TextBox 8"/>
          <p:cNvSpPr/>
          <p:nvPr/>
        </p:nvSpPr>
        <p:spPr>
          <a:xfrm>
            <a:off x="804600" y="2011680"/>
            <a:ext cx="30628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STUDENT ALLOCATION</a:t>
            </a:r>
            <a:endParaRPr lang="en-US" sz="1400" b="0" u="none" strike="noStrike">
              <a:solidFill>
                <a:srgbClr val="000000"/>
              </a:solidFill>
              <a:effectLst/>
              <a:uFillTx/>
              <a:latin typeface="Arial"/>
            </a:endParaRPr>
          </a:p>
        </p:txBody>
      </p:sp>
      <p:sp>
        <p:nvSpPr>
          <p:cNvPr id="232" name="Oval 9"/>
          <p:cNvSpPr/>
          <p:nvPr/>
        </p:nvSpPr>
        <p:spPr>
          <a:xfrm>
            <a:off x="822960" y="2597040"/>
            <a:ext cx="273960" cy="273960"/>
          </a:xfrm>
          <a:prstGeom prst="ellipse">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3" name="TextBox 10"/>
          <p:cNvSpPr/>
          <p:nvPr/>
        </p:nvSpPr>
        <p:spPr>
          <a:xfrm>
            <a:off x="822960" y="261504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1</a:t>
            </a:r>
            <a:endParaRPr lang="en-US" sz="900" b="0" u="none" strike="noStrike">
              <a:solidFill>
                <a:srgbClr val="000000"/>
              </a:solidFill>
              <a:effectLst/>
              <a:uFillTx/>
              <a:latin typeface="Arial"/>
            </a:endParaRPr>
          </a:p>
        </p:txBody>
      </p:sp>
      <p:sp>
        <p:nvSpPr>
          <p:cNvPr id="234" name="TextBox 11"/>
          <p:cNvSpPr/>
          <p:nvPr/>
        </p:nvSpPr>
        <p:spPr>
          <a:xfrm>
            <a:off x="1234440" y="257868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1" u="none" strike="noStrike">
                <a:solidFill>
                  <a:srgbClr val="1D2A3A"/>
                </a:solidFill>
                <a:effectLst/>
                <a:uFillTx/>
                <a:latin typeface="Aptos"/>
              </a:rPr>
              <a:t>Select student</a:t>
            </a:r>
            <a:endParaRPr lang="en-US" sz="1120" b="0" u="none" strike="noStrike">
              <a:solidFill>
                <a:srgbClr val="000000"/>
              </a:solidFill>
              <a:effectLst/>
              <a:uFillTx/>
              <a:latin typeface="Arial"/>
            </a:endParaRPr>
          </a:p>
        </p:txBody>
      </p:sp>
      <p:sp>
        <p:nvSpPr>
          <p:cNvPr id="235" name="Rectangle 12"/>
          <p:cNvSpPr/>
          <p:nvPr/>
        </p:nvSpPr>
        <p:spPr>
          <a:xfrm>
            <a:off x="951120" y="288936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6" name="Oval 13"/>
          <p:cNvSpPr/>
          <p:nvPr/>
        </p:nvSpPr>
        <p:spPr>
          <a:xfrm>
            <a:off x="822960" y="3127320"/>
            <a:ext cx="273960" cy="273960"/>
          </a:xfrm>
          <a:prstGeom prst="ellipse">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37" name="TextBox 14"/>
          <p:cNvSpPr/>
          <p:nvPr/>
        </p:nvSpPr>
        <p:spPr>
          <a:xfrm>
            <a:off x="822960" y="314568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2</a:t>
            </a:r>
            <a:endParaRPr lang="en-US" sz="900" b="0" u="none" strike="noStrike">
              <a:solidFill>
                <a:srgbClr val="000000"/>
              </a:solidFill>
              <a:effectLst/>
              <a:uFillTx/>
              <a:latin typeface="Arial"/>
            </a:endParaRPr>
          </a:p>
        </p:txBody>
      </p:sp>
      <p:sp>
        <p:nvSpPr>
          <p:cNvPr id="238" name="TextBox 15"/>
          <p:cNvSpPr/>
          <p:nvPr/>
        </p:nvSpPr>
        <p:spPr>
          <a:xfrm>
            <a:off x="1234440" y="310896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Find available bed</a:t>
            </a:r>
            <a:endParaRPr lang="en-US" sz="1120" b="0" u="none" strike="noStrike">
              <a:solidFill>
                <a:srgbClr val="000000"/>
              </a:solidFill>
              <a:effectLst/>
              <a:uFillTx/>
              <a:latin typeface="Arial"/>
            </a:endParaRPr>
          </a:p>
        </p:txBody>
      </p:sp>
      <p:sp>
        <p:nvSpPr>
          <p:cNvPr id="239" name="Rectangle 16"/>
          <p:cNvSpPr/>
          <p:nvPr/>
        </p:nvSpPr>
        <p:spPr>
          <a:xfrm>
            <a:off x="951120" y="342000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0" name="Oval 17"/>
          <p:cNvSpPr/>
          <p:nvPr/>
        </p:nvSpPr>
        <p:spPr>
          <a:xfrm>
            <a:off x="822960" y="3657600"/>
            <a:ext cx="273960" cy="273960"/>
          </a:xfrm>
          <a:prstGeom prst="ellipse">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1" name="TextBox 18"/>
          <p:cNvSpPr/>
          <p:nvPr/>
        </p:nvSpPr>
        <p:spPr>
          <a:xfrm>
            <a:off x="822960" y="367596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3</a:t>
            </a:r>
            <a:endParaRPr lang="en-US" sz="900" b="0" u="none" strike="noStrike">
              <a:solidFill>
                <a:srgbClr val="000000"/>
              </a:solidFill>
              <a:effectLst/>
              <a:uFillTx/>
              <a:latin typeface="Arial"/>
            </a:endParaRPr>
          </a:p>
        </p:txBody>
      </p:sp>
      <p:sp>
        <p:nvSpPr>
          <p:cNvPr id="242" name="TextBox 19"/>
          <p:cNvSpPr/>
          <p:nvPr/>
        </p:nvSpPr>
        <p:spPr>
          <a:xfrm>
            <a:off x="1234440" y="363924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Validate availability</a:t>
            </a:r>
            <a:endParaRPr lang="en-US" sz="1120" b="0" u="none" strike="noStrike">
              <a:solidFill>
                <a:srgbClr val="000000"/>
              </a:solidFill>
              <a:effectLst/>
              <a:uFillTx/>
              <a:latin typeface="Arial"/>
            </a:endParaRPr>
          </a:p>
        </p:txBody>
      </p:sp>
      <p:sp>
        <p:nvSpPr>
          <p:cNvPr id="243" name="Rectangle 20"/>
          <p:cNvSpPr/>
          <p:nvPr/>
        </p:nvSpPr>
        <p:spPr>
          <a:xfrm>
            <a:off x="951120" y="395028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4" name="Oval 21"/>
          <p:cNvSpPr/>
          <p:nvPr/>
        </p:nvSpPr>
        <p:spPr>
          <a:xfrm>
            <a:off x="822960" y="4187880"/>
            <a:ext cx="273960" cy="273960"/>
          </a:xfrm>
          <a:prstGeom prst="ellipse">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5" name="TextBox 22"/>
          <p:cNvSpPr/>
          <p:nvPr/>
        </p:nvSpPr>
        <p:spPr>
          <a:xfrm>
            <a:off x="822960" y="420624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4</a:t>
            </a:r>
            <a:endParaRPr lang="en-US" sz="900" b="0" u="none" strike="noStrike">
              <a:solidFill>
                <a:srgbClr val="000000"/>
              </a:solidFill>
              <a:effectLst/>
              <a:uFillTx/>
              <a:latin typeface="Arial"/>
            </a:endParaRPr>
          </a:p>
        </p:txBody>
      </p:sp>
      <p:sp>
        <p:nvSpPr>
          <p:cNvPr id="246" name="TextBox 23"/>
          <p:cNvSpPr/>
          <p:nvPr/>
        </p:nvSpPr>
        <p:spPr>
          <a:xfrm>
            <a:off x="1234440" y="416952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Save allocation</a:t>
            </a:r>
            <a:endParaRPr lang="en-US" sz="1120" b="0" u="none" strike="noStrike">
              <a:solidFill>
                <a:srgbClr val="000000"/>
              </a:solidFill>
              <a:effectLst/>
              <a:uFillTx/>
              <a:latin typeface="Arial"/>
            </a:endParaRPr>
          </a:p>
        </p:txBody>
      </p:sp>
      <p:sp>
        <p:nvSpPr>
          <p:cNvPr id="247" name="Rectangle 24"/>
          <p:cNvSpPr/>
          <p:nvPr/>
        </p:nvSpPr>
        <p:spPr>
          <a:xfrm>
            <a:off x="951120" y="448056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8" name="Oval 25"/>
          <p:cNvSpPr/>
          <p:nvPr/>
        </p:nvSpPr>
        <p:spPr>
          <a:xfrm>
            <a:off x="822960" y="4718160"/>
            <a:ext cx="273960" cy="273960"/>
          </a:xfrm>
          <a:prstGeom prst="ellipse">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49" name="TextBox 26"/>
          <p:cNvSpPr/>
          <p:nvPr/>
        </p:nvSpPr>
        <p:spPr>
          <a:xfrm>
            <a:off x="822960" y="473652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5</a:t>
            </a:r>
            <a:endParaRPr lang="en-US" sz="900" b="0" u="none" strike="noStrike">
              <a:solidFill>
                <a:srgbClr val="000000"/>
              </a:solidFill>
              <a:effectLst/>
              <a:uFillTx/>
              <a:latin typeface="Arial"/>
            </a:endParaRPr>
          </a:p>
        </p:txBody>
      </p:sp>
      <p:sp>
        <p:nvSpPr>
          <p:cNvPr id="250" name="TextBox 27"/>
          <p:cNvSpPr/>
          <p:nvPr/>
        </p:nvSpPr>
        <p:spPr>
          <a:xfrm>
            <a:off x="1234440" y="470016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Confirm result</a:t>
            </a:r>
            <a:endParaRPr lang="en-US" sz="1120" b="0" u="none" strike="noStrike">
              <a:solidFill>
                <a:srgbClr val="000000"/>
              </a:solidFill>
              <a:effectLst/>
              <a:uFillTx/>
              <a:latin typeface="Arial"/>
            </a:endParaRPr>
          </a:p>
        </p:txBody>
      </p:sp>
      <p:sp>
        <p:nvSpPr>
          <p:cNvPr id="251" name="Rounded Rectangle 28"/>
          <p:cNvSpPr/>
          <p:nvPr/>
        </p:nvSpPr>
        <p:spPr>
          <a:xfrm>
            <a:off x="822960" y="5440680"/>
            <a:ext cx="305388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52" name="TextBox 29"/>
          <p:cNvSpPr/>
          <p:nvPr/>
        </p:nvSpPr>
        <p:spPr>
          <a:xfrm>
            <a:off x="877680" y="5463720"/>
            <a:ext cx="294408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00" b="1">
                <a:solidFill>
                  <a:srgbClr val="3576C8"/>
                </a:solidFill>
                <a:latin typeface="Aptos"/>
              </a:rPr>
              <a:t>DB-backed workflow</a:t>
            </a:r>
            <a:endParaRPr lang="en-US" sz="839" b="0" u="none" strike="noStrike">
              <a:solidFill>
                <a:srgbClr val="000000"/>
              </a:solidFill>
              <a:effectLst/>
              <a:uFillTx/>
              <a:latin typeface="Arial"/>
            </a:endParaRPr>
          </a:p>
        </p:txBody>
      </p:sp>
      <p:sp>
        <p:nvSpPr>
          <p:cNvPr id="253" name="Rounded Rectangle 30"/>
          <p:cNvSpPr/>
          <p:nvPr/>
        </p:nvSpPr>
        <p:spPr>
          <a:xfrm>
            <a:off x="4361760" y="1783080"/>
            <a:ext cx="3456000" cy="4068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54" name="Rectangle 31"/>
          <p:cNvSpPr/>
          <p:nvPr/>
        </p:nvSpPr>
        <p:spPr>
          <a:xfrm>
            <a:off x="4361760" y="1783080"/>
            <a:ext cx="3456000" cy="910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55" name="TextBox 32"/>
          <p:cNvSpPr/>
          <p:nvPr/>
        </p:nvSpPr>
        <p:spPr>
          <a:xfrm>
            <a:off x="4544640" y="2011680"/>
            <a:ext cx="30628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COMPLAINT MANAGEMENT</a:t>
            </a:r>
            <a:endParaRPr lang="en-US" sz="1400" b="0" u="none" strike="noStrike">
              <a:solidFill>
                <a:srgbClr val="000000"/>
              </a:solidFill>
              <a:effectLst/>
              <a:uFillTx/>
              <a:latin typeface="Arial"/>
            </a:endParaRPr>
          </a:p>
        </p:txBody>
      </p:sp>
      <p:sp>
        <p:nvSpPr>
          <p:cNvPr id="256" name="Oval 33"/>
          <p:cNvSpPr/>
          <p:nvPr/>
        </p:nvSpPr>
        <p:spPr>
          <a:xfrm>
            <a:off x="4563000" y="2597040"/>
            <a:ext cx="273960" cy="273960"/>
          </a:xfrm>
          <a:prstGeom prst="ellipse">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57" name="TextBox 34"/>
          <p:cNvSpPr/>
          <p:nvPr/>
        </p:nvSpPr>
        <p:spPr>
          <a:xfrm>
            <a:off x="4563000" y="261504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1</a:t>
            </a:r>
            <a:endParaRPr lang="en-US" sz="900" b="0" u="none" strike="noStrike">
              <a:solidFill>
                <a:srgbClr val="000000"/>
              </a:solidFill>
              <a:effectLst/>
              <a:uFillTx/>
              <a:latin typeface="Arial"/>
            </a:endParaRPr>
          </a:p>
        </p:txBody>
      </p:sp>
      <p:sp>
        <p:nvSpPr>
          <p:cNvPr id="258" name="TextBox 35"/>
          <p:cNvSpPr/>
          <p:nvPr/>
        </p:nvSpPr>
        <p:spPr>
          <a:xfrm>
            <a:off x="4974480" y="257868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1" u="none" strike="noStrike">
                <a:solidFill>
                  <a:srgbClr val="1D2A3A"/>
                </a:solidFill>
                <a:effectLst/>
                <a:uFillTx/>
                <a:latin typeface="Aptos"/>
              </a:rPr>
              <a:t>Register complaint</a:t>
            </a:r>
            <a:endParaRPr lang="en-US" sz="1120" b="0" u="none" strike="noStrike">
              <a:solidFill>
                <a:srgbClr val="000000"/>
              </a:solidFill>
              <a:effectLst/>
              <a:uFillTx/>
              <a:latin typeface="Arial"/>
            </a:endParaRPr>
          </a:p>
        </p:txBody>
      </p:sp>
      <p:sp>
        <p:nvSpPr>
          <p:cNvPr id="259" name="Rectangle 36"/>
          <p:cNvSpPr/>
          <p:nvPr/>
        </p:nvSpPr>
        <p:spPr>
          <a:xfrm>
            <a:off x="4690800" y="288936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60" name="Oval 37"/>
          <p:cNvSpPr/>
          <p:nvPr/>
        </p:nvSpPr>
        <p:spPr>
          <a:xfrm>
            <a:off x="4563000" y="3127320"/>
            <a:ext cx="273960" cy="273960"/>
          </a:xfrm>
          <a:prstGeom prst="ellipse">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61" name="TextBox 38"/>
          <p:cNvSpPr/>
          <p:nvPr/>
        </p:nvSpPr>
        <p:spPr>
          <a:xfrm>
            <a:off x="4563000" y="314568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2</a:t>
            </a:r>
            <a:endParaRPr lang="en-US" sz="900" b="0" u="none" strike="noStrike">
              <a:solidFill>
                <a:srgbClr val="000000"/>
              </a:solidFill>
              <a:effectLst/>
              <a:uFillTx/>
              <a:latin typeface="Arial"/>
            </a:endParaRPr>
          </a:p>
        </p:txBody>
      </p:sp>
      <p:sp>
        <p:nvSpPr>
          <p:cNvPr id="262" name="TextBox 39"/>
          <p:cNvSpPr/>
          <p:nvPr/>
        </p:nvSpPr>
        <p:spPr>
          <a:xfrm>
            <a:off x="4974480" y="310896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Assign maintenance staff</a:t>
            </a:r>
            <a:endParaRPr lang="en-US" sz="1120" b="0" u="none" strike="noStrike">
              <a:solidFill>
                <a:srgbClr val="000000"/>
              </a:solidFill>
              <a:effectLst/>
              <a:uFillTx/>
              <a:latin typeface="Arial"/>
            </a:endParaRPr>
          </a:p>
        </p:txBody>
      </p:sp>
      <p:sp>
        <p:nvSpPr>
          <p:cNvPr id="263" name="Rectangle 40"/>
          <p:cNvSpPr/>
          <p:nvPr/>
        </p:nvSpPr>
        <p:spPr>
          <a:xfrm>
            <a:off x="4690800" y="342000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64" name="Oval 41"/>
          <p:cNvSpPr/>
          <p:nvPr/>
        </p:nvSpPr>
        <p:spPr>
          <a:xfrm>
            <a:off x="4563000" y="3657600"/>
            <a:ext cx="273960" cy="273960"/>
          </a:xfrm>
          <a:prstGeom prst="ellipse">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65" name="TextBox 42"/>
          <p:cNvSpPr/>
          <p:nvPr/>
        </p:nvSpPr>
        <p:spPr>
          <a:xfrm>
            <a:off x="4563000" y="367596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3</a:t>
            </a:r>
            <a:endParaRPr lang="en-US" sz="900" b="0" u="none" strike="noStrike">
              <a:solidFill>
                <a:srgbClr val="000000"/>
              </a:solidFill>
              <a:effectLst/>
              <a:uFillTx/>
              <a:latin typeface="Arial"/>
            </a:endParaRPr>
          </a:p>
        </p:txBody>
      </p:sp>
      <p:sp>
        <p:nvSpPr>
          <p:cNvPr id="266" name="TextBox 43"/>
          <p:cNvSpPr/>
          <p:nvPr/>
        </p:nvSpPr>
        <p:spPr>
          <a:xfrm>
            <a:off x="4974480" y="363924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Update status</a:t>
            </a:r>
            <a:endParaRPr lang="en-US" sz="1120" b="0" u="none" strike="noStrike">
              <a:solidFill>
                <a:srgbClr val="000000"/>
              </a:solidFill>
              <a:effectLst/>
              <a:uFillTx/>
              <a:latin typeface="Arial"/>
            </a:endParaRPr>
          </a:p>
        </p:txBody>
      </p:sp>
      <p:sp>
        <p:nvSpPr>
          <p:cNvPr id="267" name="Rectangle 44"/>
          <p:cNvSpPr/>
          <p:nvPr/>
        </p:nvSpPr>
        <p:spPr>
          <a:xfrm>
            <a:off x="4690800" y="395028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68" name="Oval 45"/>
          <p:cNvSpPr/>
          <p:nvPr/>
        </p:nvSpPr>
        <p:spPr>
          <a:xfrm>
            <a:off x="4563000" y="4187880"/>
            <a:ext cx="273960" cy="273960"/>
          </a:xfrm>
          <a:prstGeom prst="ellipse">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69" name="TextBox 46"/>
          <p:cNvSpPr/>
          <p:nvPr/>
        </p:nvSpPr>
        <p:spPr>
          <a:xfrm>
            <a:off x="4563000" y="420624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4</a:t>
            </a:r>
            <a:endParaRPr lang="en-US" sz="900" b="0" u="none" strike="noStrike">
              <a:solidFill>
                <a:srgbClr val="000000"/>
              </a:solidFill>
              <a:effectLst/>
              <a:uFillTx/>
              <a:latin typeface="Arial"/>
            </a:endParaRPr>
          </a:p>
        </p:txBody>
      </p:sp>
      <p:sp>
        <p:nvSpPr>
          <p:cNvPr id="270" name="TextBox 47"/>
          <p:cNvSpPr/>
          <p:nvPr/>
        </p:nvSpPr>
        <p:spPr>
          <a:xfrm>
            <a:off x="4974480" y="416952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Record resolution</a:t>
            </a:r>
            <a:endParaRPr lang="en-US" sz="1120" b="0" u="none" strike="noStrike">
              <a:solidFill>
                <a:srgbClr val="000000"/>
              </a:solidFill>
              <a:effectLst/>
              <a:uFillTx/>
              <a:latin typeface="Arial"/>
            </a:endParaRPr>
          </a:p>
        </p:txBody>
      </p:sp>
      <p:sp>
        <p:nvSpPr>
          <p:cNvPr id="271" name="Rounded Rectangle 48"/>
          <p:cNvSpPr/>
          <p:nvPr/>
        </p:nvSpPr>
        <p:spPr>
          <a:xfrm>
            <a:off x="4563000" y="5440680"/>
            <a:ext cx="3053880" cy="292320"/>
          </a:xfrm>
          <a:prstGeom prst="roundRect">
            <a:avLst>
              <a:gd name="adj" fmla="val 12000"/>
            </a:avLst>
          </a:prstGeom>
          <a:solidFill>
            <a:srgbClr val="E5F7F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72" name="TextBox 49"/>
          <p:cNvSpPr/>
          <p:nvPr/>
        </p:nvSpPr>
        <p:spPr>
          <a:xfrm>
            <a:off x="4617720" y="5463720"/>
            <a:ext cx="294408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00" b="1">
                <a:solidFill>
                  <a:srgbClr val="087D76"/>
                </a:solidFill>
                <a:latin typeface="Aptos"/>
              </a:rPr>
              <a:t>DB-backed workflow</a:t>
            </a:r>
            <a:endParaRPr lang="en-US" sz="839" b="0" u="none" strike="noStrike">
              <a:solidFill>
                <a:srgbClr val="000000"/>
              </a:solidFill>
              <a:effectLst/>
              <a:uFillTx/>
              <a:latin typeface="Arial"/>
            </a:endParaRPr>
          </a:p>
        </p:txBody>
      </p:sp>
      <p:sp>
        <p:nvSpPr>
          <p:cNvPr id="273" name="Rounded Rectangle 50"/>
          <p:cNvSpPr/>
          <p:nvPr/>
        </p:nvSpPr>
        <p:spPr>
          <a:xfrm>
            <a:off x="8101440" y="1783080"/>
            <a:ext cx="3456000" cy="4068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74" name="Rectangle 51"/>
          <p:cNvSpPr/>
          <p:nvPr/>
        </p:nvSpPr>
        <p:spPr>
          <a:xfrm>
            <a:off x="8101440" y="1783080"/>
            <a:ext cx="3456000" cy="9108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75" name="TextBox 52"/>
          <p:cNvSpPr/>
          <p:nvPr/>
        </p:nvSpPr>
        <p:spPr>
          <a:xfrm>
            <a:off x="8284320" y="2011680"/>
            <a:ext cx="30628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4263D"/>
                </a:solidFill>
                <a:effectLst/>
                <a:uFillTx/>
                <a:latin typeface="Aptos"/>
              </a:rPr>
              <a:t>REPORTS &amp; ANALYTICS</a:t>
            </a:r>
            <a:endParaRPr lang="en-US" sz="1400" b="0" u="none" strike="noStrike">
              <a:solidFill>
                <a:srgbClr val="000000"/>
              </a:solidFill>
              <a:effectLst/>
              <a:uFillTx/>
              <a:latin typeface="Arial"/>
            </a:endParaRPr>
          </a:p>
        </p:txBody>
      </p:sp>
      <p:sp>
        <p:nvSpPr>
          <p:cNvPr id="276" name="Oval 53"/>
          <p:cNvSpPr/>
          <p:nvPr/>
        </p:nvSpPr>
        <p:spPr>
          <a:xfrm>
            <a:off x="8302680" y="2597040"/>
            <a:ext cx="273960" cy="273960"/>
          </a:xfrm>
          <a:prstGeom prst="ellipse">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77" name="TextBox 54"/>
          <p:cNvSpPr/>
          <p:nvPr/>
        </p:nvSpPr>
        <p:spPr>
          <a:xfrm>
            <a:off x="8302680" y="261504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1</a:t>
            </a:r>
            <a:endParaRPr lang="en-US" sz="900" b="0" u="none" strike="noStrike">
              <a:solidFill>
                <a:srgbClr val="000000"/>
              </a:solidFill>
              <a:effectLst/>
              <a:uFillTx/>
              <a:latin typeface="Arial"/>
            </a:endParaRPr>
          </a:p>
        </p:txBody>
      </p:sp>
      <p:sp>
        <p:nvSpPr>
          <p:cNvPr id="278" name="TextBox 55"/>
          <p:cNvSpPr/>
          <p:nvPr/>
        </p:nvSpPr>
        <p:spPr>
          <a:xfrm>
            <a:off x="8714160" y="257868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1" u="none" strike="noStrike">
                <a:solidFill>
                  <a:srgbClr val="1D2A3A"/>
                </a:solidFill>
                <a:effectLst/>
                <a:uFillTx/>
                <a:latin typeface="Aptos"/>
              </a:rPr>
              <a:t>Retrieve records</a:t>
            </a:r>
            <a:endParaRPr lang="en-US" sz="1120" b="0" u="none" strike="noStrike">
              <a:solidFill>
                <a:srgbClr val="000000"/>
              </a:solidFill>
              <a:effectLst/>
              <a:uFillTx/>
              <a:latin typeface="Arial"/>
            </a:endParaRPr>
          </a:p>
        </p:txBody>
      </p:sp>
      <p:sp>
        <p:nvSpPr>
          <p:cNvPr id="279" name="Rectangle 56"/>
          <p:cNvSpPr/>
          <p:nvPr/>
        </p:nvSpPr>
        <p:spPr>
          <a:xfrm>
            <a:off x="8430840" y="288936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80" name="Oval 57"/>
          <p:cNvSpPr/>
          <p:nvPr/>
        </p:nvSpPr>
        <p:spPr>
          <a:xfrm>
            <a:off x="8302680" y="3127320"/>
            <a:ext cx="273960" cy="273960"/>
          </a:xfrm>
          <a:prstGeom prst="ellipse">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81" name="TextBox 58"/>
          <p:cNvSpPr/>
          <p:nvPr/>
        </p:nvSpPr>
        <p:spPr>
          <a:xfrm>
            <a:off x="8302680" y="314568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2</a:t>
            </a:r>
            <a:endParaRPr lang="en-US" sz="900" b="0" u="none" strike="noStrike">
              <a:solidFill>
                <a:srgbClr val="000000"/>
              </a:solidFill>
              <a:effectLst/>
              <a:uFillTx/>
              <a:latin typeface="Arial"/>
            </a:endParaRPr>
          </a:p>
        </p:txBody>
      </p:sp>
      <p:sp>
        <p:nvSpPr>
          <p:cNvPr id="282" name="TextBox 59"/>
          <p:cNvSpPr/>
          <p:nvPr/>
        </p:nvSpPr>
        <p:spPr>
          <a:xfrm>
            <a:off x="8714160" y="310896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Aggregate statistics</a:t>
            </a:r>
            <a:endParaRPr lang="en-US" sz="1120" b="0" u="none" strike="noStrike">
              <a:solidFill>
                <a:srgbClr val="000000"/>
              </a:solidFill>
              <a:effectLst/>
              <a:uFillTx/>
              <a:latin typeface="Arial"/>
            </a:endParaRPr>
          </a:p>
        </p:txBody>
      </p:sp>
      <p:sp>
        <p:nvSpPr>
          <p:cNvPr id="283" name="Rectangle 60"/>
          <p:cNvSpPr/>
          <p:nvPr/>
        </p:nvSpPr>
        <p:spPr>
          <a:xfrm>
            <a:off x="8430840" y="342000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84" name="Oval 61"/>
          <p:cNvSpPr/>
          <p:nvPr/>
        </p:nvSpPr>
        <p:spPr>
          <a:xfrm>
            <a:off x="8302680" y="3657600"/>
            <a:ext cx="273960" cy="273960"/>
          </a:xfrm>
          <a:prstGeom prst="ellipse">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85" name="TextBox 62"/>
          <p:cNvSpPr/>
          <p:nvPr/>
        </p:nvSpPr>
        <p:spPr>
          <a:xfrm>
            <a:off x="8302680" y="367596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3</a:t>
            </a:r>
            <a:endParaRPr lang="en-US" sz="900" b="0" u="none" strike="noStrike">
              <a:solidFill>
                <a:srgbClr val="000000"/>
              </a:solidFill>
              <a:effectLst/>
              <a:uFillTx/>
              <a:latin typeface="Arial"/>
            </a:endParaRPr>
          </a:p>
        </p:txBody>
      </p:sp>
      <p:sp>
        <p:nvSpPr>
          <p:cNvPr id="286" name="TextBox 63"/>
          <p:cNvSpPr/>
          <p:nvPr/>
        </p:nvSpPr>
        <p:spPr>
          <a:xfrm>
            <a:off x="8714160" y="363924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Calculate occupancy / counts</a:t>
            </a:r>
            <a:endParaRPr lang="en-US" sz="1120" b="0" u="none" strike="noStrike">
              <a:solidFill>
                <a:srgbClr val="000000"/>
              </a:solidFill>
              <a:effectLst/>
              <a:uFillTx/>
              <a:latin typeface="Arial"/>
            </a:endParaRPr>
          </a:p>
        </p:txBody>
      </p:sp>
      <p:sp>
        <p:nvSpPr>
          <p:cNvPr id="287" name="Rectangle 64"/>
          <p:cNvSpPr/>
          <p:nvPr/>
        </p:nvSpPr>
        <p:spPr>
          <a:xfrm>
            <a:off x="8430840" y="3950280"/>
            <a:ext cx="22680" cy="182520"/>
          </a:xfrm>
          <a:prstGeom prst="rect">
            <a:avLst/>
          </a:prstGeom>
          <a:solidFill>
            <a:srgbClr val="DCE5E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88" name="Oval 65"/>
          <p:cNvSpPr/>
          <p:nvPr/>
        </p:nvSpPr>
        <p:spPr>
          <a:xfrm>
            <a:off x="8302680" y="4187880"/>
            <a:ext cx="273960" cy="273960"/>
          </a:xfrm>
          <a:prstGeom prst="ellipse">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89" name="TextBox 66"/>
          <p:cNvSpPr/>
          <p:nvPr/>
        </p:nvSpPr>
        <p:spPr>
          <a:xfrm>
            <a:off x="8302680" y="4206240"/>
            <a:ext cx="273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900" b="1" u="none" strike="noStrike">
                <a:solidFill>
                  <a:srgbClr val="FFFFFF"/>
                </a:solidFill>
                <a:effectLst/>
                <a:uFillTx/>
                <a:latin typeface="Aptos"/>
              </a:rPr>
              <a:t>4</a:t>
            </a:r>
            <a:endParaRPr lang="en-US" sz="900" b="0" u="none" strike="noStrike">
              <a:solidFill>
                <a:srgbClr val="000000"/>
              </a:solidFill>
              <a:effectLst/>
              <a:uFillTx/>
              <a:latin typeface="Arial"/>
            </a:endParaRPr>
          </a:p>
        </p:txBody>
      </p:sp>
      <p:sp>
        <p:nvSpPr>
          <p:cNvPr id="290" name="TextBox 67"/>
          <p:cNvSpPr/>
          <p:nvPr/>
        </p:nvSpPr>
        <p:spPr>
          <a:xfrm>
            <a:off x="8714160" y="4169520"/>
            <a:ext cx="25783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20" b="0" u="none" strike="noStrike">
                <a:solidFill>
                  <a:srgbClr val="1D2A3A"/>
                </a:solidFill>
                <a:effectLst/>
                <a:uFillTx/>
                <a:latin typeface="Aptos"/>
              </a:rPr>
              <a:t>Display summary</a:t>
            </a:r>
            <a:endParaRPr lang="en-US" sz="1120" b="0" u="none" strike="noStrike">
              <a:solidFill>
                <a:srgbClr val="000000"/>
              </a:solidFill>
              <a:effectLst/>
              <a:uFillTx/>
              <a:latin typeface="Arial"/>
            </a:endParaRPr>
          </a:p>
        </p:txBody>
      </p:sp>
      <p:sp>
        <p:nvSpPr>
          <p:cNvPr id="291" name="Rounded Rectangle 68"/>
          <p:cNvSpPr/>
          <p:nvPr/>
        </p:nvSpPr>
        <p:spPr>
          <a:xfrm>
            <a:off x="8302680" y="5440680"/>
            <a:ext cx="3053880" cy="292320"/>
          </a:xfrm>
          <a:prstGeom prst="roundRect">
            <a:avLst>
              <a:gd name="adj" fmla="val 12000"/>
            </a:avLst>
          </a:prstGeom>
          <a:solidFill>
            <a:srgbClr val="FFF4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92" name="TextBox 69"/>
          <p:cNvSpPr/>
          <p:nvPr/>
        </p:nvSpPr>
        <p:spPr>
          <a:xfrm>
            <a:off x="8357760" y="5463720"/>
            <a:ext cx="294408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00" b="1">
                <a:solidFill>
                  <a:srgbClr val="805B11"/>
                </a:solidFill>
                <a:latin typeface="Aptos"/>
              </a:rPr>
              <a:t>DB-backed workflow</a:t>
            </a:r>
            <a:endParaRPr lang="en-US" sz="839"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93"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06 / DATABASE OPERATIONS</a:t>
            </a:r>
            <a:endParaRPr lang="en-US" sz="950" b="0" u="none" strike="noStrike">
              <a:solidFill>
                <a:srgbClr val="000000"/>
              </a:solidFill>
              <a:effectLst/>
              <a:uFillTx/>
              <a:latin typeface="Arial"/>
            </a:endParaRPr>
          </a:p>
        </p:txBody>
      </p:sp>
      <p:sp>
        <p:nvSpPr>
          <p:cNvPr id="294"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2700" b="1">
                <a:solidFill>
                  <a:srgbClr val="14263D"/>
                </a:solidFill>
                <a:latin typeface="Aptos"/>
              </a:rPr>
              <a:t>MongoDB Queries &amp; Reporting</a:t>
            </a:r>
            <a:endParaRPr lang="en-US" sz="2700" b="0" u="none" strike="noStrike">
              <a:solidFill>
                <a:srgbClr val="000000"/>
              </a:solidFill>
              <a:effectLst/>
              <a:uFillTx/>
              <a:latin typeface="Arial"/>
            </a:endParaRPr>
          </a:p>
        </p:txBody>
      </p:sp>
      <p:sp>
        <p:nvSpPr>
          <p:cNvPr id="295"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Examples show document queries, counting and an aggregation pipeline for occupancy reporting.</a:t>
            </a:r>
            <a:endParaRPr lang="en-US" sz="1150" b="0" u="none" strike="noStrike">
              <a:solidFill>
                <a:srgbClr val="000000"/>
              </a:solidFill>
              <a:effectLst/>
              <a:uFillTx/>
              <a:latin typeface="Arial"/>
            </a:endParaRPr>
          </a:p>
        </p:txBody>
      </p:sp>
      <p:sp>
        <p:nvSpPr>
          <p:cNvPr id="296"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297"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07</a:t>
            </a:r>
            <a:endParaRPr lang="en-US" sz="900" b="0" u="none" strike="noStrike">
              <a:solidFill>
                <a:srgbClr val="000000"/>
              </a:solidFill>
              <a:effectLst/>
              <a:uFillTx/>
              <a:latin typeface="Arial"/>
            </a:endParaRPr>
          </a:p>
        </p:txBody>
      </p:sp>
      <p:sp>
        <p:nvSpPr>
          <p:cNvPr id="298" name="Rounded Rectangle 6"/>
          <p:cNvSpPr/>
          <p:nvPr/>
        </p:nvSpPr>
        <p:spPr>
          <a:xfrm>
            <a:off x="621720" y="1691640"/>
            <a:ext cx="3520080" cy="80424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299" name="Rectangle 7"/>
          <p:cNvSpPr/>
          <p:nvPr/>
        </p:nvSpPr>
        <p:spPr>
          <a:xfrm>
            <a:off x="621720" y="1819800"/>
            <a:ext cx="54360" cy="5482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0" name="TextBox 8"/>
          <p:cNvSpPr/>
          <p:nvPr/>
        </p:nvSpPr>
        <p:spPr>
          <a:xfrm>
            <a:off x="822960" y="1865520"/>
            <a:ext cx="31176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20" b="1">
                <a:solidFill>
                  <a:srgbClr val="1D2A3A"/>
                </a:solidFill>
                <a:latin typeface="Aptos"/>
              </a:rPr>
              <a:t>1  Read active hostels</a:t>
            </a:r>
            <a:endParaRPr lang="en-US" sz="1400" b="0" u="none" strike="noStrike">
              <a:solidFill>
                <a:srgbClr val="000000"/>
              </a:solidFill>
              <a:effectLst/>
              <a:uFillTx/>
              <a:latin typeface="Arial"/>
            </a:endParaRPr>
          </a:p>
        </p:txBody>
      </p:sp>
      <p:sp>
        <p:nvSpPr>
          <p:cNvPr id="301" name="TextBox 9"/>
          <p:cNvSpPr/>
          <p:nvPr/>
        </p:nvSpPr>
        <p:spPr>
          <a:xfrm>
            <a:off x="822960" y="2267712"/>
            <a:ext cx="3126960" cy="219456"/>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000" b="0">
                <a:solidFill>
                  <a:srgbClr val="617286"/>
                </a:solidFill>
                <a:latin typeface="Aptos"/>
              </a:rPr>
              <a:t>Filter documents by a field.</a:t>
            </a:r>
            <a:endParaRPr lang="en-US" sz="1050" b="0" u="none" strike="noStrike">
              <a:solidFill>
                <a:srgbClr val="000000"/>
              </a:solidFill>
              <a:effectLst/>
              <a:uFillTx/>
              <a:latin typeface="Arial"/>
            </a:endParaRPr>
          </a:p>
        </p:txBody>
      </p:sp>
      <p:sp>
        <p:nvSpPr>
          <p:cNvPr id="302" name="Rounded Rectangle 10"/>
          <p:cNvSpPr/>
          <p:nvPr/>
        </p:nvSpPr>
        <p:spPr>
          <a:xfrm>
            <a:off x="621720" y="2587752"/>
            <a:ext cx="3520080" cy="1417320"/>
          </a:xfrm>
          <a:prstGeom prst="roundRect">
            <a:avLst>
              <a:gd name="adj" fmla="val 12000"/>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3" name="Oval 11"/>
          <p:cNvSpPr/>
          <p:nvPr/>
        </p:nvSpPr>
        <p:spPr>
          <a:xfrm>
            <a:off x="786240" y="2724840"/>
            <a:ext cx="82080" cy="82080"/>
          </a:xfrm>
          <a:prstGeom prst="ellipse">
            <a:avLst/>
          </a:prstGeom>
          <a:solidFill>
            <a:srgbClr val="F8717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4" name="Oval 12"/>
          <p:cNvSpPr/>
          <p:nvPr/>
        </p:nvSpPr>
        <p:spPr>
          <a:xfrm>
            <a:off x="951120" y="2724840"/>
            <a:ext cx="82080" cy="82080"/>
          </a:xfrm>
          <a:prstGeom prst="ellipse">
            <a:avLst/>
          </a:prstGeom>
          <a:solidFill>
            <a:srgbClr val="FBBF2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5" name="Oval 13"/>
          <p:cNvSpPr/>
          <p:nvPr/>
        </p:nvSpPr>
        <p:spPr>
          <a:xfrm>
            <a:off x="1115640" y="2724840"/>
            <a:ext cx="82080" cy="82080"/>
          </a:xfrm>
          <a:prstGeom prst="ellipse">
            <a:avLst/>
          </a:prstGeom>
          <a:solidFill>
            <a:srgbClr val="34D39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6" name="TextBox 14"/>
          <p:cNvSpPr/>
          <p:nvPr/>
        </p:nvSpPr>
        <p:spPr>
          <a:xfrm>
            <a:off x="786240" y="2971800"/>
            <a:ext cx="3191040" cy="960120"/>
          </a:xfrm>
          <a:prstGeom prst="rect">
            <a:avLst/>
          </a:prstGeom>
          <a:noFill/>
          <a:ln w="0">
            <a:noFill/>
          </a:ln>
        </p:spPr>
        <p:style>
          <a:lnRef idx="0">
            <a:scrgbClr r="0" g="0" b="0"/>
          </a:lnRef>
          <a:fillRef idx="0">
            <a:scrgbClr r="0" g="0" b="0"/>
          </a:fillRef>
          <a:effectRef idx="0">
            <a:scrgbClr r="0" g="0" b="0"/>
          </a:effectRef>
          <a:fontRef idx="minor"/>
        </p:style>
        <p:txBody>
          <a:bodyPr wrap="square" lIns="109728" tIns="91440" rIns="73152" anchor="t">
            <a:spAutoFit/>
          </a:bodyPr>
          <a:lstStyle/>
          <a:p>
            <a:pPr algn="l" defTabSz="457200">
              <a:lnSpc>
                <a:spcPct val="100000"/>
              </a:lnSpc>
              <a:spcBef>
                <a:spcPts val="0"/>
              </a:spcBef>
              <a:spcAft>
                <a:spcPts val="0"/>
              </a:spcAft>
            </a:pPr>
            <a:r>
              <a:rPr sz="1050">
                <a:solidFill>
                  <a:srgbClr val="FFFFFF"/>
                </a:solidFill>
                <a:latin typeface="Aptos Mono"/>
              </a:rPr>
              <a:t>db.hostels.find(</a:t>
            </a:r>
            <a:endParaRPr lang="en-US" sz="1150" b="0" u="none" strike="noStrike">
              <a:solidFill>
                <a:srgbClr val="000000"/>
              </a:solidFill>
              <a:effectLst/>
              <a:uFillTx/>
              <a:latin typeface="Arial"/>
            </a:endParaRPr>
          </a:p>
          <a:p>
            <a:pPr algn="l">
              <a:lnSpc>
                <a:spcPct val="100000"/>
              </a:lnSpc>
              <a:spcBef>
                <a:spcPts val="0"/>
              </a:spcBef>
              <a:spcAft>
                <a:spcPts val="0"/>
              </a:spcAft>
            </a:pPr>
            <a:r>
              <a:rPr sz="1050">
                <a:solidFill>
                  <a:srgbClr val="FFFFFF"/>
                </a:solidFill>
                <a:latin typeface="Aptos Mono"/>
              </a:rPr>
              <a:t>  { isActive: true }</a:t>
            </a:r>
          </a:p>
          <a:p>
            <a:pPr algn="l">
              <a:lnSpc>
                <a:spcPct val="100000"/>
              </a:lnSpc>
              <a:spcBef>
                <a:spcPts val="0"/>
              </a:spcBef>
              <a:spcAft>
                <a:spcPts val="0"/>
              </a:spcAft>
            </a:pPr>
            <a:r>
              <a:rPr sz="1050">
                <a:solidFill>
                  <a:srgbClr val="FFFFFF"/>
                </a:solidFill>
                <a:latin typeface="Aptos Mono"/>
              </a:rPr>
              <a:t>).limit(5)</a:t>
            </a:r>
          </a:p>
        </p:txBody>
      </p:sp>
      <p:sp>
        <p:nvSpPr>
          <p:cNvPr id="307" name="Rounded Rectangle 15"/>
          <p:cNvSpPr/>
          <p:nvPr/>
        </p:nvSpPr>
        <p:spPr>
          <a:xfrm>
            <a:off x="4343400" y="1691640"/>
            <a:ext cx="3520080" cy="80424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8" name="Rectangle 16"/>
          <p:cNvSpPr/>
          <p:nvPr/>
        </p:nvSpPr>
        <p:spPr>
          <a:xfrm>
            <a:off x="4343400" y="1819800"/>
            <a:ext cx="54360" cy="5482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09" name="TextBox 17"/>
          <p:cNvSpPr/>
          <p:nvPr/>
        </p:nvSpPr>
        <p:spPr>
          <a:xfrm>
            <a:off x="4544640" y="1865520"/>
            <a:ext cx="31176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00" b="1">
                <a:solidFill>
                  <a:srgbClr val="1D2A3A"/>
                </a:solidFill>
                <a:latin typeface="Aptos"/>
              </a:rPr>
              <a:t>2  Count active allocations</a:t>
            </a:r>
            <a:endParaRPr lang="en-US" sz="1400" b="0" u="none" strike="noStrike">
              <a:solidFill>
                <a:srgbClr val="000000"/>
              </a:solidFill>
              <a:effectLst/>
              <a:uFillTx/>
              <a:latin typeface="Arial"/>
            </a:endParaRPr>
          </a:p>
        </p:txBody>
      </p:sp>
      <p:sp>
        <p:nvSpPr>
          <p:cNvPr id="310" name="TextBox 18"/>
          <p:cNvSpPr/>
          <p:nvPr/>
        </p:nvSpPr>
        <p:spPr>
          <a:xfrm>
            <a:off x="4544640" y="2267712"/>
            <a:ext cx="3126960" cy="219456"/>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000" b="0">
                <a:solidFill>
                  <a:srgbClr val="617286"/>
                </a:solidFill>
                <a:latin typeface="Aptos"/>
              </a:rPr>
              <a:t>Count matching documents.</a:t>
            </a:r>
            <a:endParaRPr lang="en-US" sz="1050" b="0" u="none" strike="noStrike">
              <a:solidFill>
                <a:srgbClr val="000000"/>
              </a:solidFill>
              <a:effectLst/>
              <a:uFillTx/>
              <a:latin typeface="Arial"/>
            </a:endParaRPr>
          </a:p>
        </p:txBody>
      </p:sp>
      <p:sp>
        <p:nvSpPr>
          <p:cNvPr id="311" name="Rounded Rectangle 19"/>
          <p:cNvSpPr/>
          <p:nvPr/>
        </p:nvSpPr>
        <p:spPr>
          <a:xfrm>
            <a:off x="4343400" y="2587752"/>
            <a:ext cx="3520080" cy="1417320"/>
          </a:xfrm>
          <a:prstGeom prst="roundRect">
            <a:avLst>
              <a:gd name="adj" fmla="val 12000"/>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12" name="Oval 20"/>
          <p:cNvSpPr/>
          <p:nvPr/>
        </p:nvSpPr>
        <p:spPr>
          <a:xfrm>
            <a:off x="4507920" y="2724840"/>
            <a:ext cx="82080" cy="82080"/>
          </a:xfrm>
          <a:prstGeom prst="ellipse">
            <a:avLst/>
          </a:prstGeom>
          <a:solidFill>
            <a:srgbClr val="F8717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13" name="Oval 21"/>
          <p:cNvSpPr/>
          <p:nvPr/>
        </p:nvSpPr>
        <p:spPr>
          <a:xfrm>
            <a:off x="4672440" y="2724840"/>
            <a:ext cx="82080" cy="82080"/>
          </a:xfrm>
          <a:prstGeom prst="ellipse">
            <a:avLst/>
          </a:prstGeom>
          <a:solidFill>
            <a:srgbClr val="FBBF2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14" name="Oval 22"/>
          <p:cNvSpPr/>
          <p:nvPr/>
        </p:nvSpPr>
        <p:spPr>
          <a:xfrm>
            <a:off x="4837320" y="2724840"/>
            <a:ext cx="82080" cy="82080"/>
          </a:xfrm>
          <a:prstGeom prst="ellipse">
            <a:avLst/>
          </a:prstGeom>
          <a:solidFill>
            <a:srgbClr val="34D39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15" name="TextBox 23"/>
          <p:cNvSpPr/>
          <p:nvPr/>
        </p:nvSpPr>
        <p:spPr>
          <a:xfrm>
            <a:off x="4507920" y="2971800"/>
            <a:ext cx="3191040" cy="960120"/>
          </a:xfrm>
          <a:prstGeom prst="rect">
            <a:avLst/>
          </a:prstGeom>
          <a:noFill/>
          <a:ln w="0">
            <a:noFill/>
          </a:ln>
        </p:spPr>
        <p:style>
          <a:lnRef idx="0">
            <a:scrgbClr r="0" g="0" b="0"/>
          </a:lnRef>
          <a:fillRef idx="0">
            <a:scrgbClr r="0" g="0" b="0"/>
          </a:fillRef>
          <a:effectRef idx="0">
            <a:scrgbClr r="0" g="0" b="0"/>
          </a:effectRef>
          <a:fontRef idx="minor"/>
        </p:style>
        <p:txBody>
          <a:bodyPr wrap="square" lIns="109728" tIns="91440" rIns="73152" anchor="t">
            <a:spAutoFit/>
          </a:bodyPr>
          <a:lstStyle/>
          <a:p>
            <a:pPr algn="l" defTabSz="457200">
              <a:lnSpc>
                <a:spcPct val="100000"/>
              </a:lnSpc>
              <a:spcBef>
                <a:spcPts val="0"/>
              </a:spcBef>
              <a:spcAft>
                <a:spcPts val="0"/>
              </a:spcAft>
            </a:pPr>
            <a:r>
              <a:rPr sz="1050">
                <a:solidFill>
                  <a:srgbClr val="FFFFFF"/>
                </a:solidFill>
                <a:latin typeface="Aptos Mono"/>
              </a:rPr>
              <a:t>db.allocations.countDocuments(</a:t>
            </a:r>
            <a:endParaRPr lang="en-US" sz="1050" b="0" u="none" strike="noStrike">
              <a:solidFill>
                <a:srgbClr val="000000"/>
              </a:solidFill>
              <a:effectLst/>
              <a:uFillTx/>
              <a:latin typeface="Arial"/>
            </a:endParaRPr>
          </a:p>
          <a:p>
            <a:pPr algn="l">
              <a:lnSpc>
                <a:spcPct val="100000"/>
              </a:lnSpc>
              <a:spcBef>
                <a:spcPts val="0"/>
              </a:spcBef>
              <a:spcAft>
                <a:spcPts val="0"/>
              </a:spcAft>
            </a:pPr>
            <a:r>
              <a:rPr sz="1050">
                <a:solidFill>
                  <a:srgbClr val="FFFFFF"/>
                </a:solidFill>
                <a:latin typeface="Aptos Mono"/>
              </a:rPr>
              <a:t>  { status: "active" }</a:t>
            </a:r>
          </a:p>
          <a:p>
            <a:pPr algn="l">
              <a:lnSpc>
                <a:spcPct val="100000"/>
              </a:lnSpc>
              <a:spcBef>
                <a:spcPts val="0"/>
              </a:spcBef>
              <a:spcAft>
                <a:spcPts val="0"/>
              </a:spcAft>
            </a:pPr>
            <a:r>
              <a:rPr sz="1050">
                <a:solidFill>
                  <a:srgbClr val="FFFFFF"/>
                </a:solidFill>
                <a:latin typeface="Aptos Mono"/>
              </a:rPr>
              <a:t>)</a:t>
            </a:r>
          </a:p>
        </p:txBody>
      </p:sp>
      <p:sp>
        <p:nvSpPr>
          <p:cNvPr id="316" name="Rounded Rectangle 24"/>
          <p:cNvSpPr/>
          <p:nvPr/>
        </p:nvSpPr>
        <p:spPr>
          <a:xfrm>
            <a:off x="8065080" y="1691640"/>
            <a:ext cx="3501720" cy="80424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17" name="Rectangle 25"/>
          <p:cNvSpPr/>
          <p:nvPr/>
        </p:nvSpPr>
        <p:spPr>
          <a:xfrm>
            <a:off x="8065080" y="1819800"/>
            <a:ext cx="54360" cy="54828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18" name="TextBox 26"/>
          <p:cNvSpPr/>
          <p:nvPr/>
        </p:nvSpPr>
        <p:spPr>
          <a:xfrm>
            <a:off x="8266320" y="1865520"/>
            <a:ext cx="309960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00" b="1">
                <a:solidFill>
                  <a:srgbClr val="1D2A3A"/>
                </a:solidFill>
                <a:latin typeface="Aptos"/>
              </a:rPr>
              <a:t>3  Aggregate occupancy</a:t>
            </a:r>
            <a:endParaRPr lang="en-US" sz="1400" b="0" u="none" strike="noStrike">
              <a:solidFill>
                <a:srgbClr val="000000"/>
              </a:solidFill>
              <a:effectLst/>
              <a:uFillTx/>
              <a:latin typeface="Arial"/>
            </a:endParaRPr>
          </a:p>
        </p:txBody>
      </p:sp>
      <p:sp>
        <p:nvSpPr>
          <p:cNvPr id="319" name="TextBox 27"/>
          <p:cNvSpPr/>
          <p:nvPr/>
        </p:nvSpPr>
        <p:spPr>
          <a:xfrm>
            <a:off x="8266320" y="2267712"/>
            <a:ext cx="3108600" cy="219456"/>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000" b="0">
                <a:solidFill>
                  <a:srgbClr val="617286"/>
                </a:solidFill>
                <a:latin typeface="Aptos"/>
              </a:rPr>
              <a:t>Group active allocations by hostel.</a:t>
            </a:r>
            <a:endParaRPr lang="en-US" sz="1050" b="0" u="none" strike="noStrike">
              <a:solidFill>
                <a:srgbClr val="000000"/>
              </a:solidFill>
              <a:effectLst/>
              <a:uFillTx/>
              <a:latin typeface="Arial"/>
            </a:endParaRPr>
          </a:p>
        </p:txBody>
      </p:sp>
      <p:sp>
        <p:nvSpPr>
          <p:cNvPr id="320" name="Rounded Rectangle 28"/>
          <p:cNvSpPr/>
          <p:nvPr/>
        </p:nvSpPr>
        <p:spPr>
          <a:xfrm>
            <a:off x="8065080" y="2587752"/>
            <a:ext cx="3501720" cy="1417320"/>
          </a:xfrm>
          <a:prstGeom prst="roundRect">
            <a:avLst>
              <a:gd name="adj" fmla="val 12000"/>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1" name="Oval 29"/>
          <p:cNvSpPr/>
          <p:nvPr/>
        </p:nvSpPr>
        <p:spPr>
          <a:xfrm>
            <a:off x="8229600" y="2724840"/>
            <a:ext cx="82080" cy="82080"/>
          </a:xfrm>
          <a:prstGeom prst="ellipse">
            <a:avLst/>
          </a:prstGeom>
          <a:solidFill>
            <a:srgbClr val="F8717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2" name="Oval 30"/>
          <p:cNvSpPr/>
          <p:nvPr/>
        </p:nvSpPr>
        <p:spPr>
          <a:xfrm>
            <a:off x="8394120" y="2724840"/>
            <a:ext cx="82080" cy="82080"/>
          </a:xfrm>
          <a:prstGeom prst="ellipse">
            <a:avLst/>
          </a:prstGeom>
          <a:solidFill>
            <a:srgbClr val="FBBF2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3" name="Oval 31"/>
          <p:cNvSpPr/>
          <p:nvPr/>
        </p:nvSpPr>
        <p:spPr>
          <a:xfrm>
            <a:off x="8558640" y="2724840"/>
            <a:ext cx="82080" cy="82080"/>
          </a:xfrm>
          <a:prstGeom prst="ellipse">
            <a:avLst/>
          </a:prstGeom>
          <a:solidFill>
            <a:srgbClr val="34D39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3320" rIns="90000" bIns="1332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4" name="TextBox 32"/>
          <p:cNvSpPr/>
          <p:nvPr/>
        </p:nvSpPr>
        <p:spPr>
          <a:xfrm>
            <a:off x="8229600" y="2926080"/>
            <a:ext cx="3172680" cy="1060704"/>
          </a:xfrm>
          <a:prstGeom prst="rect">
            <a:avLst/>
          </a:prstGeom>
          <a:noFill/>
          <a:ln w="0">
            <a:noFill/>
          </a:ln>
        </p:spPr>
        <p:style>
          <a:lnRef idx="0">
            <a:scrgbClr r="0" g="0" b="0"/>
          </a:lnRef>
          <a:fillRef idx="0">
            <a:scrgbClr r="0" g="0" b="0"/>
          </a:fillRef>
          <a:effectRef idx="0">
            <a:scrgbClr r="0" g="0" b="0"/>
          </a:effectRef>
          <a:fontRef idx="minor"/>
        </p:style>
        <p:txBody>
          <a:bodyPr wrap="square" lIns="109728" tIns="91440" rIns="73152" anchor="t">
            <a:spAutoFit/>
          </a:bodyPr>
          <a:lstStyle/>
          <a:p>
            <a:pPr algn="l" defTabSz="457200">
              <a:lnSpc>
                <a:spcPct val="100000"/>
              </a:lnSpc>
              <a:spcBef>
                <a:spcPts val="0"/>
              </a:spcBef>
              <a:spcAft>
                <a:spcPts val="0"/>
              </a:spcAft>
            </a:pPr>
            <a:r>
              <a:rPr sz="860">
                <a:solidFill>
                  <a:srgbClr val="FFFFFF"/>
                </a:solidFill>
                <a:latin typeface="Aptos Mono"/>
              </a:rPr>
              <a:t>db.allocations.aggregate([</a:t>
            </a:r>
            <a:endParaRPr lang="en-US" sz="1020" b="0" u="none" strike="noStrike">
              <a:solidFill>
                <a:srgbClr val="000000"/>
              </a:solidFill>
              <a:effectLst/>
              <a:uFillTx/>
              <a:latin typeface="Arial"/>
            </a:endParaRPr>
          </a:p>
          <a:p>
            <a:pPr algn="l">
              <a:lnSpc>
                <a:spcPct val="100000"/>
              </a:lnSpc>
              <a:spcBef>
                <a:spcPts val="0"/>
              </a:spcBef>
              <a:spcAft>
                <a:spcPts val="0"/>
              </a:spcAft>
            </a:pPr>
            <a:r>
              <a:rPr sz="860">
                <a:solidFill>
                  <a:srgbClr val="FFFFFF"/>
                </a:solidFill>
                <a:latin typeface="Aptos Mono"/>
              </a:rPr>
              <a:t>  { $match: { status: "active" } },</a:t>
            </a:r>
          </a:p>
          <a:p>
            <a:pPr algn="l">
              <a:lnSpc>
                <a:spcPct val="100000"/>
              </a:lnSpc>
              <a:spcBef>
                <a:spcPts val="0"/>
              </a:spcBef>
              <a:spcAft>
                <a:spcPts val="0"/>
              </a:spcAft>
            </a:pPr>
            <a:r>
              <a:rPr sz="860">
                <a:solidFill>
                  <a:srgbClr val="FFFFFF"/>
                </a:solidFill>
                <a:latin typeface="Aptos Mono"/>
              </a:rPr>
              <a:t>  { $group: {</a:t>
            </a:r>
          </a:p>
          <a:p>
            <a:pPr algn="l">
              <a:lnSpc>
                <a:spcPct val="100000"/>
              </a:lnSpc>
              <a:spcBef>
                <a:spcPts val="0"/>
              </a:spcBef>
              <a:spcAft>
                <a:spcPts val="0"/>
              </a:spcAft>
            </a:pPr>
            <a:r>
              <a:rPr sz="860">
                <a:solidFill>
                  <a:srgbClr val="FFFFFF"/>
                </a:solidFill>
                <a:latin typeface="Aptos Mono"/>
              </a:rPr>
              <a:t>      _id: "$hostel", n: { $sum: 1 }</a:t>
            </a:r>
          </a:p>
          <a:p>
            <a:pPr algn="l">
              <a:lnSpc>
                <a:spcPct val="100000"/>
              </a:lnSpc>
              <a:spcBef>
                <a:spcPts val="0"/>
              </a:spcBef>
              <a:spcAft>
                <a:spcPts val="0"/>
              </a:spcAft>
            </a:pPr>
            <a:r>
              <a:rPr sz="860">
                <a:solidFill>
                  <a:srgbClr val="FFFFFF"/>
                </a:solidFill>
                <a:latin typeface="Aptos Mono"/>
              </a:rPr>
              <a:t>  }}</a:t>
            </a:r>
          </a:p>
          <a:p>
            <a:pPr algn="l">
              <a:lnSpc>
                <a:spcPct val="100000"/>
              </a:lnSpc>
              <a:spcBef>
                <a:spcPts val="0"/>
              </a:spcBef>
              <a:spcAft>
                <a:spcPts val="0"/>
              </a:spcAft>
            </a:pPr>
            <a:r>
              <a:rPr sz="860">
                <a:solidFill>
                  <a:srgbClr val="FFFFFF"/>
                </a:solidFill>
                <a:latin typeface="Aptos Mono"/>
              </a:rPr>
              <a:t>])</a:t>
            </a:r>
          </a:p>
        </p:txBody>
      </p:sp>
      <p:sp>
        <p:nvSpPr>
          <p:cNvPr id="325" name="Rounded Rectangle 36"/>
          <p:cNvSpPr/>
          <p:nvPr/>
        </p:nvSpPr>
        <p:spPr>
          <a:xfrm>
            <a:off x="2930760" y="4224528"/>
            <a:ext cx="3812760" cy="12801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6" name="Rectangle 37"/>
          <p:cNvSpPr/>
          <p:nvPr/>
        </p:nvSpPr>
        <p:spPr>
          <a:xfrm>
            <a:off x="3044880" y="4352544"/>
            <a:ext cx="54360" cy="987552"/>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27" name="TextBox 38"/>
          <p:cNvSpPr/>
          <p:nvPr/>
        </p:nvSpPr>
        <p:spPr>
          <a:xfrm>
            <a:off x="3977639" y="4407408"/>
            <a:ext cx="2743200" cy="292608"/>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20" b="1">
                <a:solidFill>
                  <a:srgbClr val="1D2A3A"/>
                </a:solidFill>
                <a:latin typeface="Aptos"/>
              </a:rPr>
              <a:t>DBMS concepts applied</a:t>
            </a:r>
            <a:endParaRPr lang="en-US" sz="1400" b="0" u="none" strike="noStrike">
              <a:solidFill>
                <a:srgbClr val="000000"/>
              </a:solidFill>
              <a:effectLst/>
              <a:uFillTx/>
              <a:latin typeface="Arial"/>
            </a:endParaRPr>
          </a:p>
        </p:txBody>
      </p:sp>
      <p:sp>
        <p:nvSpPr>
          <p:cNvPr id="328" name="TextBox 39"/>
          <p:cNvSpPr/>
          <p:nvPr/>
        </p:nvSpPr>
        <p:spPr>
          <a:xfrm>
            <a:off x="3328416" y="4736592"/>
            <a:ext cx="3419856" cy="64008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060" b="0">
                <a:solidFill>
                  <a:srgbClr val="617286"/>
                </a:solidFill>
                <a:latin typeface="Aptos"/>
              </a:rPr>
              <a:t>CRUD retrieves records; aggregation summarizes data; indexes improve lookup and enforce uniqueness.</a:t>
            </a:r>
            <a:endParaRPr lang="en-US" sz="11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29"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1">
                <a:solidFill>
                  <a:srgbClr val="087D76"/>
                </a:solidFill>
                <a:latin typeface="Aptos"/>
              </a:rPr>
              <a:t>07 / CODE WALKTHROUGH</a:t>
            </a:r>
            <a:endParaRPr lang="en-US" sz="950" b="0" u="none" strike="noStrike">
              <a:solidFill>
                <a:srgbClr val="000000"/>
              </a:solidFill>
              <a:effectLst/>
              <a:uFillTx/>
              <a:latin typeface="Arial"/>
            </a:endParaRPr>
          </a:p>
        </p:txBody>
      </p:sp>
      <p:sp>
        <p:nvSpPr>
          <p:cNvPr id="330"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2700" b="1">
                <a:solidFill>
                  <a:srgbClr val="14263D"/>
                </a:solidFill>
                <a:latin typeface="Aptos"/>
              </a:rPr>
              <a:t>From Model to Protected API</a:t>
            </a:r>
            <a:endParaRPr lang="en-US" sz="2700" b="0" u="none" strike="noStrike">
              <a:solidFill>
                <a:srgbClr val="000000"/>
              </a:solidFill>
              <a:effectLst/>
              <a:uFillTx/>
              <a:latin typeface="Arial"/>
            </a:endParaRPr>
          </a:p>
        </p:txBody>
      </p:sp>
      <p:sp>
        <p:nvSpPr>
          <p:cNvPr id="331"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332"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08</a:t>
            </a:r>
            <a:endParaRPr lang="en-US" sz="900" b="0" u="none" strike="noStrike">
              <a:solidFill>
                <a:srgbClr val="000000"/>
              </a:solidFill>
              <a:effectLst/>
              <a:uFillTx/>
              <a:latin typeface="Arial"/>
            </a:endParaRPr>
          </a:p>
        </p:txBody>
      </p:sp>
      <p:sp>
        <p:nvSpPr>
          <p:cNvPr id="333" name="Rounded Rectangle 6"/>
          <p:cNvSpPr/>
          <p:nvPr/>
        </p:nvSpPr>
        <p:spPr>
          <a:xfrm>
            <a:off x="621720" y="1783080"/>
            <a:ext cx="3492720" cy="35200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34" name="Rectangle 7"/>
          <p:cNvSpPr/>
          <p:nvPr/>
        </p:nvSpPr>
        <p:spPr>
          <a:xfrm>
            <a:off x="786240" y="1965960"/>
            <a:ext cx="3163320" cy="273960"/>
          </a:xfrm>
          <a:prstGeom prst="rect">
            <a:avLst/>
          </a:prstGeom>
          <a:solidFill>
            <a:srgbClr val="203B5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35" name="Oval 8"/>
          <p:cNvSpPr/>
          <p:nvPr/>
        </p:nvSpPr>
        <p:spPr>
          <a:xfrm>
            <a:off x="887040" y="2057400"/>
            <a:ext cx="63720" cy="63720"/>
          </a:xfrm>
          <a:prstGeom prst="ellipse">
            <a:avLst/>
          </a:prstGeom>
          <a:solidFill>
            <a:srgbClr val="F8717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36" name="Oval 9"/>
          <p:cNvSpPr/>
          <p:nvPr/>
        </p:nvSpPr>
        <p:spPr>
          <a:xfrm>
            <a:off x="1024200" y="2057400"/>
            <a:ext cx="63720" cy="63720"/>
          </a:xfrm>
          <a:prstGeom prst="ellipse">
            <a:avLst/>
          </a:prstGeom>
          <a:solidFill>
            <a:srgbClr val="FBBF2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37" name="Oval 10"/>
          <p:cNvSpPr/>
          <p:nvPr/>
        </p:nvSpPr>
        <p:spPr>
          <a:xfrm>
            <a:off x="1161360" y="2057400"/>
            <a:ext cx="63720" cy="63720"/>
          </a:xfrm>
          <a:prstGeom prst="ellipse">
            <a:avLst/>
          </a:prstGeom>
          <a:solidFill>
            <a:srgbClr val="34D39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38" name="TextBox 14"/>
          <p:cNvSpPr/>
          <p:nvPr/>
        </p:nvSpPr>
        <p:spPr>
          <a:xfrm>
            <a:off x="877680" y="4517280"/>
            <a:ext cx="2971440" cy="2739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20" b="1">
                <a:latin typeface="Aptos"/>
              </a:rPr>
              <a:t>1. Mongoose constraint</a:t>
            </a:r>
            <a:endParaRPr lang="en-US" sz="1400" b="0" u="none" strike="noStrike">
              <a:solidFill>
                <a:srgbClr val="000000"/>
              </a:solidFill>
              <a:effectLst/>
              <a:uFillTx/>
              <a:latin typeface="Arial"/>
            </a:endParaRPr>
          </a:p>
        </p:txBody>
      </p:sp>
      <p:sp>
        <p:nvSpPr>
          <p:cNvPr id="339" name="TextBox 15"/>
          <p:cNvSpPr/>
          <p:nvPr/>
        </p:nvSpPr>
        <p:spPr>
          <a:xfrm>
            <a:off x="877680" y="4846320"/>
            <a:ext cx="294408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69">
                <a:solidFill>
                  <a:srgbClr val="637489"/>
                </a:solidFill>
                <a:latin typeface="Aptos"/>
              </a:rPr>
              <a:t>Active-only unique index</a:t>
            </a:r>
            <a:endParaRPr lang="en-US" sz="1050" b="0" u="none" strike="noStrike">
              <a:solidFill>
                <a:srgbClr val="000000"/>
              </a:solidFill>
              <a:effectLst/>
              <a:uFillTx/>
              <a:latin typeface="Arial"/>
            </a:endParaRPr>
          </a:p>
        </p:txBody>
      </p:sp>
      <p:sp>
        <p:nvSpPr>
          <p:cNvPr id="340" name="Rectangle 16"/>
          <p:cNvSpPr/>
          <p:nvPr/>
        </p:nvSpPr>
        <p:spPr>
          <a:xfrm>
            <a:off x="877680" y="5212080"/>
            <a:ext cx="639720" cy="3636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1" name="Rounded Rectangle 17"/>
          <p:cNvSpPr/>
          <p:nvPr/>
        </p:nvSpPr>
        <p:spPr>
          <a:xfrm>
            <a:off x="4343400" y="1783080"/>
            <a:ext cx="3492720" cy="35200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2" name="Rectangle 18"/>
          <p:cNvSpPr/>
          <p:nvPr/>
        </p:nvSpPr>
        <p:spPr>
          <a:xfrm>
            <a:off x="4507920" y="1965960"/>
            <a:ext cx="3163320" cy="273960"/>
          </a:xfrm>
          <a:prstGeom prst="rect">
            <a:avLst/>
          </a:prstGeom>
          <a:solidFill>
            <a:srgbClr val="203B5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3" name="Oval 19"/>
          <p:cNvSpPr/>
          <p:nvPr/>
        </p:nvSpPr>
        <p:spPr>
          <a:xfrm>
            <a:off x="4608720" y="2057400"/>
            <a:ext cx="63720" cy="63720"/>
          </a:xfrm>
          <a:prstGeom prst="ellipse">
            <a:avLst/>
          </a:prstGeom>
          <a:solidFill>
            <a:srgbClr val="F8717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4" name="Oval 20"/>
          <p:cNvSpPr/>
          <p:nvPr/>
        </p:nvSpPr>
        <p:spPr>
          <a:xfrm>
            <a:off x="4745880" y="2057400"/>
            <a:ext cx="63720" cy="63720"/>
          </a:xfrm>
          <a:prstGeom prst="ellipse">
            <a:avLst/>
          </a:prstGeom>
          <a:solidFill>
            <a:srgbClr val="FBBF2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5" name="Oval 21"/>
          <p:cNvSpPr/>
          <p:nvPr/>
        </p:nvSpPr>
        <p:spPr>
          <a:xfrm>
            <a:off x="4883040" y="2057400"/>
            <a:ext cx="63720" cy="63720"/>
          </a:xfrm>
          <a:prstGeom prst="ellipse">
            <a:avLst/>
          </a:prstGeom>
          <a:solidFill>
            <a:srgbClr val="34D39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6" name="TextBox 25"/>
          <p:cNvSpPr/>
          <p:nvPr/>
        </p:nvSpPr>
        <p:spPr>
          <a:xfrm>
            <a:off x="4599360" y="4517280"/>
            <a:ext cx="2971440" cy="2739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20" b="1">
                <a:solidFill>
                  <a:srgbClr val="14263D"/>
                </a:solidFill>
                <a:latin typeface="Aptos"/>
              </a:rPr>
              <a:t>2. Service transaction</a:t>
            </a:r>
            <a:endParaRPr lang="en-US" sz="1400" b="0" u="none" strike="noStrike">
              <a:solidFill>
                <a:srgbClr val="000000"/>
              </a:solidFill>
              <a:effectLst/>
              <a:uFillTx/>
              <a:latin typeface="Arial"/>
            </a:endParaRPr>
          </a:p>
        </p:txBody>
      </p:sp>
      <p:sp>
        <p:nvSpPr>
          <p:cNvPr id="347" name="TextBox 26"/>
          <p:cNvSpPr/>
          <p:nvPr/>
        </p:nvSpPr>
        <p:spPr>
          <a:xfrm>
            <a:off x="4599360" y="4846320"/>
            <a:ext cx="294408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69" b="0">
                <a:solidFill>
                  <a:srgbClr val="617286"/>
                </a:solidFill>
                <a:latin typeface="Aptos"/>
              </a:rPr>
              <a:t>Check before writing</a:t>
            </a:r>
            <a:endParaRPr lang="en-US" sz="1050" b="0" u="none" strike="noStrike">
              <a:solidFill>
                <a:srgbClr val="000000"/>
              </a:solidFill>
              <a:effectLst/>
              <a:uFillTx/>
              <a:latin typeface="Arial"/>
            </a:endParaRPr>
          </a:p>
        </p:txBody>
      </p:sp>
      <p:sp>
        <p:nvSpPr>
          <p:cNvPr id="348" name="Rectangle 27"/>
          <p:cNvSpPr/>
          <p:nvPr/>
        </p:nvSpPr>
        <p:spPr>
          <a:xfrm>
            <a:off x="4599360" y="5212080"/>
            <a:ext cx="639720" cy="3636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49" name="Rounded Rectangle 28"/>
          <p:cNvSpPr/>
          <p:nvPr/>
        </p:nvSpPr>
        <p:spPr>
          <a:xfrm>
            <a:off x="8065080" y="1783080"/>
            <a:ext cx="3492720" cy="352008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50" name="Rectangle 29"/>
          <p:cNvSpPr/>
          <p:nvPr/>
        </p:nvSpPr>
        <p:spPr>
          <a:xfrm>
            <a:off x="8229600" y="1965960"/>
            <a:ext cx="3163320" cy="273960"/>
          </a:xfrm>
          <a:prstGeom prst="rect">
            <a:avLst/>
          </a:prstGeom>
          <a:solidFill>
            <a:srgbClr val="203B5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51" name="Oval 30"/>
          <p:cNvSpPr/>
          <p:nvPr/>
        </p:nvSpPr>
        <p:spPr>
          <a:xfrm>
            <a:off x="8330040" y="2057400"/>
            <a:ext cx="63720" cy="63720"/>
          </a:xfrm>
          <a:prstGeom prst="ellipse">
            <a:avLst/>
          </a:prstGeom>
          <a:solidFill>
            <a:srgbClr val="F8717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52" name="Oval 31"/>
          <p:cNvSpPr/>
          <p:nvPr/>
        </p:nvSpPr>
        <p:spPr>
          <a:xfrm>
            <a:off x="8467200" y="2057400"/>
            <a:ext cx="63720" cy="63720"/>
          </a:xfrm>
          <a:prstGeom prst="ellipse">
            <a:avLst/>
          </a:prstGeom>
          <a:solidFill>
            <a:srgbClr val="FBBF2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53" name="Oval 32"/>
          <p:cNvSpPr/>
          <p:nvPr/>
        </p:nvSpPr>
        <p:spPr>
          <a:xfrm>
            <a:off x="8604360" y="2057400"/>
            <a:ext cx="63720" cy="63720"/>
          </a:xfrm>
          <a:prstGeom prst="ellipse">
            <a:avLst/>
          </a:prstGeom>
          <a:solidFill>
            <a:srgbClr val="34D39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0" rIns="90000" bIns="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54" name="TextBox 36"/>
          <p:cNvSpPr/>
          <p:nvPr/>
        </p:nvSpPr>
        <p:spPr>
          <a:xfrm>
            <a:off x="8321040" y="4517280"/>
            <a:ext cx="2971440" cy="2739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320" b="1">
                <a:solidFill>
                  <a:srgbClr val="14263D"/>
                </a:solidFill>
                <a:latin typeface="Aptos"/>
              </a:rPr>
              <a:t>3. Protected REST API</a:t>
            </a:r>
            <a:endParaRPr lang="en-US" sz="1400" b="0" u="none" strike="noStrike">
              <a:solidFill>
                <a:srgbClr val="000000"/>
              </a:solidFill>
              <a:effectLst/>
              <a:uFillTx/>
              <a:latin typeface="Arial"/>
            </a:endParaRPr>
          </a:p>
        </p:txBody>
      </p:sp>
      <p:sp>
        <p:nvSpPr>
          <p:cNvPr id="355" name="TextBox 37"/>
          <p:cNvSpPr/>
          <p:nvPr/>
        </p:nvSpPr>
        <p:spPr>
          <a:xfrm>
            <a:off x="8321040" y="4846320"/>
            <a:ext cx="294408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69" b="0">
                <a:solidFill>
                  <a:srgbClr val="617286"/>
                </a:solidFill>
                <a:latin typeface="Aptos"/>
              </a:rPr>
              <a:t>Authentication + admin role</a:t>
            </a:r>
            <a:endParaRPr lang="en-US" sz="1050" b="0" u="none" strike="noStrike">
              <a:solidFill>
                <a:srgbClr val="000000"/>
              </a:solidFill>
              <a:effectLst/>
              <a:uFillTx/>
              <a:latin typeface="Arial"/>
            </a:endParaRPr>
          </a:p>
        </p:txBody>
      </p:sp>
      <p:sp>
        <p:nvSpPr>
          <p:cNvPr id="356" name="Rectangle 38"/>
          <p:cNvSpPr/>
          <p:nvPr/>
        </p:nvSpPr>
        <p:spPr>
          <a:xfrm>
            <a:off x="8321040" y="5212080"/>
            <a:ext cx="639720" cy="3636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60" name="TextBox 359"/>
          <p:cNvSpPr txBox="1"/>
          <p:nvPr/>
        </p:nvSpPr>
        <p:spPr>
          <a:xfrm>
            <a:off x="585216" y="1161288"/>
            <a:ext cx="10972800" cy="320040"/>
          </a:xfrm>
          <a:prstGeom prst="rect">
            <a:avLst/>
          </a:prstGeom>
          <a:noFill/>
        </p:spPr>
        <p:txBody>
          <a:bodyPr wrap="square">
            <a:spAutoFit/>
          </a:bodyPr>
          <a:lstStyle/>
          <a:p>
            <a:r>
              <a:rPr sz="1150">
                <a:solidFill>
                  <a:srgbClr val="637489"/>
                </a:solidFill>
                <a:latin typeface="Aptos"/>
              </a:rPr>
              <a:t>Representative excerpts show how schema constraints, service logic and role-protected routes work together.</a:t>
            </a:r>
          </a:p>
        </p:txBody>
      </p:sp>
      <p:sp>
        <p:nvSpPr>
          <p:cNvPr id="361" name="Rectangle 360"/>
          <p:cNvSpPr/>
          <p:nvPr/>
        </p:nvSpPr>
        <p:spPr>
          <a:xfrm>
            <a:off x="822960" y="2331720"/>
            <a:ext cx="50292" cy="1956816"/>
          </a:xfrm>
          <a:prstGeom prst="rect">
            <a:avLst/>
          </a:prstGeom>
          <a:solidFill>
            <a:srgbClr val="357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Rounded Rectangle 361"/>
          <p:cNvSpPr/>
          <p:nvPr/>
        </p:nvSpPr>
        <p:spPr>
          <a:xfrm>
            <a:off x="896112" y="2331720"/>
            <a:ext cx="2962656" cy="1956816"/>
          </a:xfrm>
          <a:prstGeom prst="roundRect">
            <a:avLst/>
          </a:prstGeom>
          <a:solidFill>
            <a:srgbClr val="14263D"/>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73152" rtlCol="0" anchor="t"/>
          <a:lstStyle/>
          <a:p>
            <a:pPr algn="l">
              <a:lnSpc>
                <a:spcPct val="100000"/>
              </a:lnSpc>
              <a:spcBef>
                <a:spcPts val="0"/>
              </a:spcBef>
              <a:spcAft>
                <a:spcPts val="0"/>
              </a:spcAft>
            </a:pPr>
            <a:r>
              <a:rPr sz="980">
                <a:solidFill>
                  <a:srgbClr val="FFFFFF"/>
                </a:solidFill>
                <a:latin typeface="Aptos Mono"/>
              </a:rPr>
              <a:t>allocationSchema.index(</a:t>
            </a:r>
          </a:p>
          <a:p>
            <a:pPr algn="l">
              <a:lnSpc>
                <a:spcPct val="100000"/>
              </a:lnSpc>
              <a:spcBef>
                <a:spcPts val="0"/>
              </a:spcBef>
              <a:spcAft>
                <a:spcPts val="0"/>
              </a:spcAft>
            </a:pPr>
            <a:r>
              <a:rPr sz="980">
                <a:solidFill>
                  <a:srgbClr val="FFFFFF"/>
                </a:solidFill>
                <a:latin typeface="Aptos Mono"/>
              </a:rPr>
              <a:t>  { student: 1 },</a:t>
            </a:r>
          </a:p>
          <a:p>
            <a:pPr algn="l">
              <a:lnSpc>
                <a:spcPct val="100000"/>
              </a:lnSpc>
              <a:spcBef>
                <a:spcPts val="0"/>
              </a:spcBef>
              <a:spcAft>
                <a:spcPts val="0"/>
              </a:spcAft>
            </a:pPr>
            <a:r>
              <a:rPr sz="980">
                <a:solidFill>
                  <a:srgbClr val="FFFFFF"/>
                </a:solidFill>
                <a:latin typeface="Aptos Mono"/>
              </a:rPr>
              <a:t>  { unique: true,</a:t>
            </a:r>
          </a:p>
          <a:p>
            <a:pPr algn="l">
              <a:lnSpc>
                <a:spcPct val="100000"/>
              </a:lnSpc>
              <a:spcBef>
                <a:spcPts val="0"/>
              </a:spcBef>
              <a:spcAft>
                <a:spcPts val="0"/>
              </a:spcAft>
            </a:pPr>
            <a:r>
              <a:rPr sz="980">
                <a:solidFill>
                  <a:srgbClr val="FFFFFF"/>
                </a:solidFill>
                <a:latin typeface="Aptos Mono"/>
              </a:rPr>
              <a:t>    partialFilterExpression:</a:t>
            </a:r>
          </a:p>
          <a:p>
            <a:pPr algn="l">
              <a:lnSpc>
                <a:spcPct val="100000"/>
              </a:lnSpc>
              <a:spcBef>
                <a:spcPts val="0"/>
              </a:spcBef>
              <a:spcAft>
                <a:spcPts val="0"/>
              </a:spcAft>
            </a:pPr>
            <a:r>
              <a:rPr sz="980">
                <a:solidFill>
                  <a:srgbClr val="FFFFFF"/>
                </a:solidFill>
                <a:latin typeface="Aptos Mono"/>
              </a:rPr>
              <a:t>      { status: "active" } }</a:t>
            </a:r>
          </a:p>
          <a:p>
            <a:pPr algn="l">
              <a:lnSpc>
                <a:spcPct val="100000"/>
              </a:lnSpc>
              <a:spcBef>
                <a:spcPts val="0"/>
              </a:spcBef>
              <a:spcAft>
                <a:spcPts val="0"/>
              </a:spcAft>
            </a:pPr>
            <a:r>
              <a:rPr sz="980">
                <a:solidFill>
                  <a:srgbClr val="FFFFFF"/>
                </a:solidFill>
                <a:latin typeface="Aptos Mono"/>
              </a:rPr>
              <a:t>);</a:t>
            </a:r>
          </a:p>
        </p:txBody>
      </p:sp>
      <p:sp>
        <p:nvSpPr>
          <p:cNvPr id="363" name="Rectangle 362"/>
          <p:cNvSpPr/>
          <p:nvPr/>
        </p:nvSpPr>
        <p:spPr>
          <a:xfrm>
            <a:off x="4507992" y="2368296"/>
            <a:ext cx="50292" cy="2130552"/>
          </a:xfrm>
          <a:prstGeom prst="rect">
            <a:avLst/>
          </a:prstGeom>
          <a:solidFill>
            <a:srgbClr val="12A8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Rounded Rectangle 363"/>
          <p:cNvSpPr/>
          <p:nvPr/>
        </p:nvSpPr>
        <p:spPr>
          <a:xfrm>
            <a:off x="4581144" y="2368296"/>
            <a:ext cx="3209544" cy="2130552"/>
          </a:xfrm>
          <a:prstGeom prst="roundRect">
            <a:avLst/>
          </a:prstGeom>
          <a:solidFill>
            <a:srgbClr val="14263D"/>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73152" rtlCol="0" anchor="t"/>
          <a:lstStyle/>
          <a:p>
            <a:pPr algn="l">
              <a:lnSpc>
                <a:spcPct val="100000"/>
              </a:lnSpc>
              <a:spcBef>
                <a:spcPts val="0"/>
              </a:spcBef>
              <a:spcAft>
                <a:spcPts val="0"/>
              </a:spcAft>
            </a:pPr>
            <a:r>
              <a:rPr sz="919">
                <a:solidFill>
                  <a:srgbClr val="FFFFFF"/>
                </a:solidFill>
                <a:latin typeface="Aptos Mono"/>
              </a:rPr>
              <a:t>const occupied = await</a:t>
            </a:r>
          </a:p>
          <a:p>
            <a:pPr algn="l">
              <a:lnSpc>
                <a:spcPct val="100000"/>
              </a:lnSpc>
              <a:spcBef>
                <a:spcPts val="0"/>
              </a:spcBef>
              <a:spcAft>
                <a:spcPts val="0"/>
              </a:spcAft>
            </a:pPr>
            <a:r>
              <a:rPr sz="919">
                <a:solidFill>
                  <a:srgbClr val="FFFFFF"/>
                </a:solidFill>
                <a:latin typeface="Aptos Mono"/>
              </a:rPr>
              <a:t>  Allocation.findOne({</a:t>
            </a:r>
          </a:p>
          <a:p>
            <a:pPr algn="l">
              <a:lnSpc>
                <a:spcPct val="100000"/>
              </a:lnSpc>
              <a:spcBef>
                <a:spcPts val="0"/>
              </a:spcBef>
              <a:spcAft>
                <a:spcPts val="0"/>
              </a:spcAft>
            </a:pPr>
            <a:r>
              <a:rPr sz="919">
                <a:solidFill>
                  <a:srgbClr val="FFFFFF"/>
                </a:solidFill>
                <a:latin typeface="Aptos Mono"/>
              </a:rPr>
              <a:t>    bed: bedId,</a:t>
            </a:r>
          </a:p>
          <a:p>
            <a:pPr algn="l">
              <a:lnSpc>
                <a:spcPct val="100000"/>
              </a:lnSpc>
              <a:spcBef>
                <a:spcPts val="0"/>
              </a:spcBef>
              <a:spcAft>
                <a:spcPts val="0"/>
              </a:spcAft>
            </a:pPr>
            <a:r>
              <a:rPr sz="919">
                <a:solidFill>
                  <a:srgbClr val="FFFFFF"/>
                </a:solidFill>
                <a:latin typeface="Aptos Mono"/>
              </a:rPr>
              <a:t>    status: "active"</a:t>
            </a:r>
          </a:p>
          <a:p>
            <a:pPr algn="l">
              <a:lnSpc>
                <a:spcPct val="100000"/>
              </a:lnSpc>
              <a:spcBef>
                <a:spcPts val="0"/>
              </a:spcBef>
              <a:spcAft>
                <a:spcPts val="0"/>
              </a:spcAft>
            </a:pPr>
            <a:r>
              <a:rPr sz="919">
                <a:solidFill>
                  <a:srgbClr val="FFFFFF"/>
                </a:solidFill>
                <a:latin typeface="Aptos Mono"/>
              </a:rPr>
              <a:t>  }).session(session);</a:t>
            </a:r>
          </a:p>
          <a:p>
            <a:pPr algn="l">
              <a:lnSpc>
                <a:spcPct val="100000"/>
              </a:lnSpc>
              <a:spcBef>
                <a:spcPts val="0"/>
              </a:spcBef>
              <a:spcAft>
                <a:spcPts val="0"/>
              </a:spcAft>
            </a:pPr>
            <a:endParaRPr sz="919">
              <a:solidFill>
                <a:srgbClr val="FFFFFF"/>
              </a:solidFill>
              <a:latin typeface="Aptos Mono"/>
            </a:endParaRPr>
          </a:p>
          <a:p>
            <a:pPr algn="l">
              <a:lnSpc>
                <a:spcPct val="100000"/>
              </a:lnSpc>
              <a:spcBef>
                <a:spcPts val="0"/>
              </a:spcBef>
              <a:spcAft>
                <a:spcPts val="0"/>
              </a:spcAft>
            </a:pPr>
            <a:r>
              <a:rPr sz="919">
                <a:solidFill>
                  <a:srgbClr val="FFFFFF"/>
                </a:solidFill>
                <a:latin typeface="Aptos Mono"/>
              </a:rPr>
              <a:t>if (occupied) throw ApiError(409);</a:t>
            </a:r>
          </a:p>
        </p:txBody>
      </p:sp>
      <p:sp>
        <p:nvSpPr>
          <p:cNvPr id="365" name="Rectangle 364"/>
          <p:cNvSpPr/>
          <p:nvPr/>
        </p:nvSpPr>
        <p:spPr>
          <a:xfrm>
            <a:off x="8202168" y="2414016"/>
            <a:ext cx="50292" cy="1856231"/>
          </a:xfrm>
          <a:prstGeom prst="rect">
            <a:avLst/>
          </a:prstGeom>
          <a:solidFill>
            <a:srgbClr val="D99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Rounded Rectangle 365"/>
          <p:cNvSpPr/>
          <p:nvPr/>
        </p:nvSpPr>
        <p:spPr>
          <a:xfrm>
            <a:off x="8275320" y="2414016"/>
            <a:ext cx="3090672" cy="1856231"/>
          </a:xfrm>
          <a:prstGeom prst="roundRect">
            <a:avLst/>
          </a:prstGeom>
          <a:solidFill>
            <a:srgbClr val="14263D"/>
          </a:solidFill>
          <a:ln>
            <a:noFill/>
          </a:ln>
        </p:spPr>
        <p:style>
          <a:lnRef idx="1">
            <a:schemeClr val="accent1"/>
          </a:lnRef>
          <a:fillRef idx="3">
            <a:schemeClr val="accent1"/>
          </a:fillRef>
          <a:effectRef idx="2">
            <a:schemeClr val="accent1"/>
          </a:effectRef>
          <a:fontRef idx="minor">
            <a:schemeClr val="lt1"/>
          </a:fontRef>
        </p:style>
        <p:txBody>
          <a:bodyPr wrap="square" lIns="109728" tIns="91440" rIns="73152" rtlCol="0" anchor="t"/>
          <a:lstStyle/>
          <a:p>
            <a:pPr algn="l">
              <a:lnSpc>
                <a:spcPct val="100000"/>
              </a:lnSpc>
              <a:spcBef>
                <a:spcPts val="0"/>
              </a:spcBef>
              <a:spcAft>
                <a:spcPts val="0"/>
              </a:spcAft>
            </a:pPr>
            <a:r>
              <a:rPr sz="1000">
                <a:solidFill>
                  <a:srgbClr val="FFFFFF"/>
                </a:solidFill>
                <a:latin typeface="Aptos Mono"/>
              </a:rPr>
              <a:t>router.post(</a:t>
            </a:r>
          </a:p>
          <a:p>
            <a:pPr algn="l">
              <a:lnSpc>
                <a:spcPct val="100000"/>
              </a:lnSpc>
              <a:spcBef>
                <a:spcPts val="0"/>
              </a:spcBef>
              <a:spcAft>
                <a:spcPts val="0"/>
              </a:spcAft>
            </a:pPr>
            <a:r>
              <a:rPr sz="1000">
                <a:solidFill>
                  <a:srgbClr val="FFFFFF"/>
                </a:solidFill>
                <a:latin typeface="Aptos Mono"/>
              </a:rPr>
              <a:t>  "/",</a:t>
            </a:r>
          </a:p>
          <a:p>
            <a:pPr algn="l">
              <a:lnSpc>
                <a:spcPct val="100000"/>
              </a:lnSpc>
              <a:spcBef>
                <a:spcPts val="0"/>
              </a:spcBef>
              <a:spcAft>
                <a:spcPts val="0"/>
              </a:spcAft>
            </a:pPr>
            <a:r>
              <a:rPr sz="1000">
                <a:solidFill>
                  <a:srgbClr val="FFFFFF"/>
                </a:solidFill>
                <a:latin typeface="Aptos Mono"/>
              </a:rPr>
              <a:t>  protect,</a:t>
            </a:r>
          </a:p>
          <a:p>
            <a:pPr algn="l">
              <a:lnSpc>
                <a:spcPct val="100000"/>
              </a:lnSpc>
              <a:spcBef>
                <a:spcPts val="0"/>
              </a:spcBef>
              <a:spcAft>
                <a:spcPts val="0"/>
              </a:spcAft>
            </a:pPr>
            <a:r>
              <a:rPr sz="1000">
                <a:solidFill>
                  <a:srgbClr val="FFFFFF"/>
                </a:solidFill>
                <a:latin typeface="Aptos Mono"/>
              </a:rPr>
              <a:t>  requireAdmin,</a:t>
            </a:r>
          </a:p>
          <a:p>
            <a:pPr algn="l">
              <a:lnSpc>
                <a:spcPct val="100000"/>
              </a:lnSpc>
              <a:spcBef>
                <a:spcPts val="0"/>
              </a:spcBef>
              <a:spcAft>
                <a:spcPts val="0"/>
              </a:spcAft>
            </a:pPr>
            <a:r>
              <a:rPr sz="1000">
                <a:solidFill>
                  <a:srgbClr val="FFFFFF"/>
                </a:solidFill>
                <a:latin typeface="Aptos Mono"/>
              </a:rPr>
              <a:t>  createAllocation</a:t>
            </a:r>
          </a:p>
          <a:p>
            <a:pPr algn="l">
              <a:lnSpc>
                <a:spcPct val="100000"/>
              </a:lnSpc>
              <a:spcBef>
                <a:spcPts val="0"/>
              </a:spcBef>
              <a:spcAft>
                <a:spcPts val="0"/>
              </a:spcAft>
            </a:pPr>
            <a:r>
              <a:rPr sz="1000">
                <a:solidFill>
                  <a:srgbClr val="FFFFFF"/>
                </a:solidFill>
                <a:latin typeface="Aptos Mono"/>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60"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08 / VERIFICATION</a:t>
            </a:r>
            <a:endParaRPr lang="en-US" sz="950" b="0" u="none" strike="noStrike">
              <a:solidFill>
                <a:srgbClr val="000000"/>
              </a:solidFill>
              <a:effectLst/>
              <a:uFillTx/>
              <a:latin typeface="Arial"/>
            </a:endParaRPr>
          </a:p>
        </p:txBody>
      </p:sp>
      <p:sp>
        <p:nvSpPr>
          <p:cNvPr id="361"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Testing &amp; Verification</a:t>
            </a:r>
            <a:endParaRPr lang="en-US" sz="2700" b="0" u="none" strike="noStrike">
              <a:solidFill>
                <a:srgbClr val="000000"/>
              </a:solidFill>
              <a:effectLst/>
              <a:uFillTx/>
              <a:latin typeface="Arial"/>
            </a:endParaRPr>
          </a:p>
        </p:txBody>
      </p:sp>
      <p:sp>
        <p:nvSpPr>
          <p:cNvPr id="362"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Core scenarios and expected outcomes used to verify the selected workflows.</a:t>
            </a:r>
            <a:endParaRPr lang="en-US" sz="1150" b="0" u="none" strike="noStrike">
              <a:solidFill>
                <a:srgbClr val="000000"/>
              </a:solidFill>
              <a:effectLst/>
              <a:uFillTx/>
              <a:latin typeface="Arial"/>
            </a:endParaRPr>
          </a:p>
        </p:txBody>
      </p:sp>
      <p:sp>
        <p:nvSpPr>
          <p:cNvPr id="363"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364"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09</a:t>
            </a:r>
            <a:endParaRPr lang="en-US" sz="900" b="0" u="none" strike="noStrike">
              <a:solidFill>
                <a:srgbClr val="000000"/>
              </a:solidFill>
              <a:effectLst/>
              <a:uFillTx/>
              <a:latin typeface="Arial"/>
            </a:endParaRPr>
          </a:p>
        </p:txBody>
      </p:sp>
      <p:sp>
        <p:nvSpPr>
          <p:cNvPr id="365" name="Rectangle 6"/>
          <p:cNvSpPr/>
          <p:nvPr/>
        </p:nvSpPr>
        <p:spPr>
          <a:xfrm>
            <a:off x="621720" y="1755720"/>
            <a:ext cx="1874160" cy="438480"/>
          </a:xfrm>
          <a:prstGeom prst="rect">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66" name="TextBox 7"/>
          <p:cNvSpPr/>
          <p:nvPr/>
        </p:nvSpPr>
        <p:spPr>
          <a:xfrm>
            <a:off x="731520" y="1874520"/>
            <a:ext cx="1654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FFFFFF"/>
                </a:solidFill>
                <a:effectLst/>
                <a:uFillTx/>
                <a:latin typeface="Aptos"/>
              </a:rPr>
              <a:t>TEST AREA</a:t>
            </a:r>
            <a:endParaRPr lang="en-US" sz="950" b="0" u="none" strike="noStrike">
              <a:solidFill>
                <a:srgbClr val="000000"/>
              </a:solidFill>
              <a:effectLst/>
              <a:uFillTx/>
              <a:latin typeface="Arial"/>
            </a:endParaRPr>
          </a:p>
        </p:txBody>
      </p:sp>
      <p:sp>
        <p:nvSpPr>
          <p:cNvPr id="367" name="Rectangle 8"/>
          <p:cNvSpPr/>
          <p:nvPr/>
        </p:nvSpPr>
        <p:spPr>
          <a:xfrm>
            <a:off x="2496240" y="1755720"/>
            <a:ext cx="3794400" cy="438480"/>
          </a:xfrm>
          <a:prstGeom prst="rect">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68" name="TextBox 9"/>
          <p:cNvSpPr/>
          <p:nvPr/>
        </p:nvSpPr>
        <p:spPr>
          <a:xfrm>
            <a:off x="2606040" y="1874520"/>
            <a:ext cx="35748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FFFFFF"/>
                </a:solidFill>
                <a:effectLst/>
                <a:uFillTx/>
                <a:latin typeface="Aptos"/>
              </a:rPr>
              <a:t>SCENARIO</a:t>
            </a:r>
            <a:endParaRPr lang="en-US" sz="950" b="0" u="none" strike="noStrike">
              <a:solidFill>
                <a:srgbClr val="000000"/>
              </a:solidFill>
              <a:effectLst/>
              <a:uFillTx/>
              <a:latin typeface="Arial"/>
            </a:endParaRPr>
          </a:p>
        </p:txBody>
      </p:sp>
      <p:sp>
        <p:nvSpPr>
          <p:cNvPr id="369" name="Rectangle 10"/>
          <p:cNvSpPr/>
          <p:nvPr/>
        </p:nvSpPr>
        <p:spPr>
          <a:xfrm>
            <a:off x="6291000" y="1755720"/>
            <a:ext cx="3337200" cy="438480"/>
          </a:xfrm>
          <a:prstGeom prst="rect">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70" name="TextBox 11"/>
          <p:cNvSpPr/>
          <p:nvPr/>
        </p:nvSpPr>
        <p:spPr>
          <a:xfrm>
            <a:off x="6400800" y="1874520"/>
            <a:ext cx="3117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FFFFFF"/>
                </a:solidFill>
                <a:effectLst/>
                <a:uFillTx/>
                <a:latin typeface="Aptos"/>
              </a:rPr>
              <a:t>EXPECTED RESULT</a:t>
            </a:r>
            <a:endParaRPr lang="en-US" sz="950" b="0" u="none" strike="noStrike">
              <a:solidFill>
                <a:srgbClr val="000000"/>
              </a:solidFill>
              <a:effectLst/>
              <a:uFillTx/>
              <a:latin typeface="Arial"/>
            </a:endParaRPr>
          </a:p>
        </p:txBody>
      </p:sp>
      <p:sp>
        <p:nvSpPr>
          <p:cNvPr id="371" name="Rectangle 12"/>
          <p:cNvSpPr/>
          <p:nvPr/>
        </p:nvSpPr>
        <p:spPr>
          <a:xfrm>
            <a:off x="9628560" y="1755720"/>
            <a:ext cx="1782720" cy="438480"/>
          </a:xfrm>
          <a:prstGeom prst="rect">
            <a:avLst/>
          </a:prstGeom>
          <a:solidFill>
            <a:srgbClr val="14263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72" name="TextBox 13"/>
          <p:cNvSpPr/>
          <p:nvPr/>
        </p:nvSpPr>
        <p:spPr>
          <a:xfrm>
            <a:off x="9738360" y="1874520"/>
            <a:ext cx="1563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FFFFFF"/>
                </a:solidFill>
                <a:effectLst/>
                <a:uFillTx/>
                <a:latin typeface="Aptos"/>
              </a:rPr>
              <a:t>STATUS</a:t>
            </a:r>
            <a:endParaRPr lang="en-US" sz="950" b="0" u="none" strike="noStrike">
              <a:solidFill>
                <a:srgbClr val="000000"/>
              </a:solidFill>
              <a:effectLst/>
              <a:uFillTx/>
              <a:latin typeface="Arial"/>
            </a:endParaRPr>
          </a:p>
        </p:txBody>
      </p:sp>
      <p:sp>
        <p:nvSpPr>
          <p:cNvPr id="373" name="Rectangle 14"/>
          <p:cNvSpPr/>
          <p:nvPr/>
        </p:nvSpPr>
        <p:spPr>
          <a:xfrm>
            <a:off x="621720" y="2194560"/>
            <a:ext cx="187416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74" name="TextBox 15"/>
          <p:cNvSpPr/>
          <p:nvPr/>
        </p:nvSpPr>
        <p:spPr>
          <a:xfrm>
            <a:off x="731520" y="2340720"/>
            <a:ext cx="165456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1">
                <a:solidFill>
                  <a:srgbClr val="087D76"/>
                </a:solidFill>
                <a:latin typeface="Aptos"/>
              </a:rPr>
              <a:t>Authentication</a:t>
            </a:r>
            <a:endParaRPr lang="en-US" sz="1000" b="0" u="none" strike="noStrike">
              <a:solidFill>
                <a:srgbClr val="000000"/>
              </a:solidFill>
              <a:effectLst/>
              <a:uFillTx/>
              <a:latin typeface="Arial"/>
            </a:endParaRPr>
          </a:p>
        </p:txBody>
      </p:sp>
      <p:sp>
        <p:nvSpPr>
          <p:cNvPr id="375" name="Rectangle 16"/>
          <p:cNvSpPr/>
          <p:nvPr/>
        </p:nvSpPr>
        <p:spPr>
          <a:xfrm>
            <a:off x="2496240" y="2194560"/>
            <a:ext cx="379440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76" name="TextBox 17"/>
          <p:cNvSpPr/>
          <p:nvPr/>
        </p:nvSpPr>
        <p:spPr>
          <a:xfrm>
            <a:off x="2606040" y="2340720"/>
            <a:ext cx="35748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0">
                <a:solidFill>
                  <a:srgbClr val="1D2A3A"/>
                </a:solidFill>
                <a:latin typeface="Aptos"/>
              </a:rPr>
              <a:t>Valid and invalid login</a:t>
            </a:r>
            <a:endParaRPr lang="en-US" sz="1050" b="0" u="none" strike="noStrike">
              <a:solidFill>
                <a:srgbClr val="000000"/>
              </a:solidFill>
              <a:effectLst/>
              <a:uFillTx/>
              <a:latin typeface="Arial"/>
            </a:endParaRPr>
          </a:p>
        </p:txBody>
      </p:sp>
      <p:sp>
        <p:nvSpPr>
          <p:cNvPr id="377" name="Rectangle 18"/>
          <p:cNvSpPr/>
          <p:nvPr/>
        </p:nvSpPr>
        <p:spPr>
          <a:xfrm>
            <a:off x="6291000" y="2194560"/>
            <a:ext cx="333720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78" name="TextBox 19"/>
          <p:cNvSpPr/>
          <p:nvPr/>
        </p:nvSpPr>
        <p:spPr>
          <a:xfrm>
            <a:off x="6400800" y="2340720"/>
            <a:ext cx="31176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80" b="0">
                <a:solidFill>
                  <a:srgbClr val="1D2A3A"/>
                </a:solidFill>
                <a:latin typeface="Aptos"/>
              </a:rPr>
              <a:t>Access granted / safe error</a:t>
            </a:r>
            <a:endParaRPr lang="en-US" sz="1050" b="0" u="none" strike="noStrike">
              <a:solidFill>
                <a:srgbClr val="000000"/>
              </a:solidFill>
              <a:effectLst/>
              <a:uFillTx/>
              <a:latin typeface="Arial"/>
            </a:endParaRPr>
          </a:p>
        </p:txBody>
      </p:sp>
      <p:sp>
        <p:nvSpPr>
          <p:cNvPr id="379" name="Rectangle 20"/>
          <p:cNvSpPr/>
          <p:nvPr/>
        </p:nvSpPr>
        <p:spPr>
          <a:xfrm>
            <a:off x="9628560" y="2194560"/>
            <a:ext cx="178272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80" name="TextBox 21"/>
          <p:cNvSpPr/>
          <p:nvPr/>
        </p:nvSpPr>
        <p:spPr>
          <a:xfrm>
            <a:off x="9718200" y="2340720"/>
            <a:ext cx="1563120" cy="1530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1">
                <a:solidFill>
                  <a:srgbClr val="166534"/>
                </a:solidFill>
                <a:latin typeface="Aptos"/>
              </a:rPr>
              <a:t>PASS</a:t>
            </a:r>
            <a:endParaRPr lang="en-US" sz="1000" b="0" u="none" strike="noStrike">
              <a:solidFill>
                <a:srgbClr val="000000"/>
              </a:solidFill>
              <a:effectLst/>
              <a:uFillTx/>
              <a:latin typeface="Arial"/>
            </a:endParaRPr>
          </a:p>
        </p:txBody>
      </p:sp>
      <p:sp>
        <p:nvSpPr>
          <p:cNvPr id="381" name="Rectangle 22"/>
          <p:cNvSpPr/>
          <p:nvPr/>
        </p:nvSpPr>
        <p:spPr>
          <a:xfrm>
            <a:off x="621720" y="2853000"/>
            <a:ext cx="187416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82" name="TextBox 23"/>
          <p:cNvSpPr/>
          <p:nvPr/>
        </p:nvSpPr>
        <p:spPr>
          <a:xfrm>
            <a:off x="731520" y="2999160"/>
            <a:ext cx="165456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1">
                <a:solidFill>
                  <a:srgbClr val="087D76"/>
                </a:solidFill>
                <a:latin typeface="Aptos"/>
              </a:rPr>
              <a:t>Allocation</a:t>
            </a:r>
            <a:endParaRPr lang="en-US" sz="1000" b="0" u="none" strike="noStrike">
              <a:solidFill>
                <a:srgbClr val="000000"/>
              </a:solidFill>
              <a:effectLst/>
              <a:uFillTx/>
              <a:latin typeface="Arial"/>
            </a:endParaRPr>
          </a:p>
        </p:txBody>
      </p:sp>
      <p:sp>
        <p:nvSpPr>
          <p:cNvPr id="383" name="Rectangle 24"/>
          <p:cNvSpPr/>
          <p:nvPr/>
        </p:nvSpPr>
        <p:spPr>
          <a:xfrm>
            <a:off x="2496240" y="2853000"/>
            <a:ext cx="379440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84" name="TextBox 25"/>
          <p:cNvSpPr/>
          <p:nvPr/>
        </p:nvSpPr>
        <p:spPr>
          <a:xfrm>
            <a:off x="2606040" y="2999160"/>
            <a:ext cx="35748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0">
                <a:solidFill>
                  <a:srgbClr val="1D2A3A"/>
                </a:solidFill>
                <a:latin typeface="Aptos"/>
              </a:rPr>
              <a:t>Assign a free bed</a:t>
            </a:r>
            <a:endParaRPr lang="en-US" sz="1050" b="0" u="none" strike="noStrike">
              <a:solidFill>
                <a:srgbClr val="000000"/>
              </a:solidFill>
              <a:effectLst/>
              <a:uFillTx/>
              <a:latin typeface="Arial"/>
            </a:endParaRPr>
          </a:p>
        </p:txBody>
      </p:sp>
      <p:sp>
        <p:nvSpPr>
          <p:cNvPr id="385" name="Rectangle 26"/>
          <p:cNvSpPr/>
          <p:nvPr/>
        </p:nvSpPr>
        <p:spPr>
          <a:xfrm>
            <a:off x="6291000" y="2853000"/>
            <a:ext cx="333720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86" name="TextBox 27"/>
          <p:cNvSpPr/>
          <p:nvPr/>
        </p:nvSpPr>
        <p:spPr>
          <a:xfrm>
            <a:off x="6400800" y="2999160"/>
            <a:ext cx="31176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40" b="0">
                <a:solidFill>
                  <a:srgbClr val="1D2A3A"/>
                </a:solidFill>
                <a:latin typeface="Aptos"/>
              </a:rPr>
              <a:t>Allocation saved; vacancy decreases</a:t>
            </a:r>
            <a:endParaRPr lang="en-US" sz="1050" b="0" u="none" strike="noStrike">
              <a:solidFill>
                <a:srgbClr val="000000"/>
              </a:solidFill>
              <a:effectLst/>
              <a:uFillTx/>
              <a:latin typeface="Arial"/>
            </a:endParaRPr>
          </a:p>
        </p:txBody>
      </p:sp>
      <p:sp>
        <p:nvSpPr>
          <p:cNvPr id="387" name="Rectangle 28"/>
          <p:cNvSpPr/>
          <p:nvPr/>
        </p:nvSpPr>
        <p:spPr>
          <a:xfrm>
            <a:off x="9628560" y="2853000"/>
            <a:ext cx="178272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88" name="Rectangle 30"/>
          <p:cNvSpPr/>
          <p:nvPr/>
        </p:nvSpPr>
        <p:spPr>
          <a:xfrm>
            <a:off x="621720" y="3511440"/>
            <a:ext cx="187416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89" name="TextBox 31"/>
          <p:cNvSpPr/>
          <p:nvPr/>
        </p:nvSpPr>
        <p:spPr>
          <a:xfrm>
            <a:off x="731520" y="3657600"/>
            <a:ext cx="165456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1">
                <a:solidFill>
                  <a:srgbClr val="087D76"/>
                </a:solidFill>
                <a:latin typeface="Aptos"/>
              </a:rPr>
              <a:t>Duplicate guard</a:t>
            </a:r>
            <a:endParaRPr lang="en-US" sz="1000" b="0" u="none" strike="noStrike">
              <a:solidFill>
                <a:srgbClr val="000000"/>
              </a:solidFill>
              <a:effectLst/>
              <a:uFillTx/>
              <a:latin typeface="Arial"/>
            </a:endParaRPr>
          </a:p>
        </p:txBody>
      </p:sp>
      <p:sp>
        <p:nvSpPr>
          <p:cNvPr id="390" name="Rectangle 32"/>
          <p:cNvSpPr/>
          <p:nvPr/>
        </p:nvSpPr>
        <p:spPr>
          <a:xfrm>
            <a:off x="2496240" y="3511440"/>
            <a:ext cx="379440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91" name="TextBox 33"/>
          <p:cNvSpPr/>
          <p:nvPr/>
        </p:nvSpPr>
        <p:spPr>
          <a:xfrm>
            <a:off x="2606040" y="3657600"/>
            <a:ext cx="35748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80" b="0">
                <a:solidFill>
                  <a:srgbClr val="1D2A3A"/>
                </a:solidFill>
                <a:latin typeface="Aptos"/>
              </a:rPr>
              <a:t>Reuse active bed or student</a:t>
            </a:r>
            <a:endParaRPr lang="en-US" sz="1050" b="0" u="none" strike="noStrike">
              <a:solidFill>
                <a:srgbClr val="000000"/>
              </a:solidFill>
              <a:effectLst/>
              <a:uFillTx/>
              <a:latin typeface="Arial"/>
            </a:endParaRPr>
          </a:p>
        </p:txBody>
      </p:sp>
      <p:sp>
        <p:nvSpPr>
          <p:cNvPr id="392" name="Rectangle 34"/>
          <p:cNvSpPr/>
          <p:nvPr/>
        </p:nvSpPr>
        <p:spPr>
          <a:xfrm>
            <a:off x="6291000" y="3511440"/>
            <a:ext cx="333720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93" name="TextBox 35"/>
          <p:cNvSpPr/>
          <p:nvPr/>
        </p:nvSpPr>
        <p:spPr>
          <a:xfrm>
            <a:off x="6400800" y="3657600"/>
            <a:ext cx="31176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0">
                <a:solidFill>
                  <a:srgbClr val="1D2A3A"/>
                </a:solidFill>
                <a:latin typeface="Aptos"/>
              </a:rPr>
              <a:t>Conflict rejected; no duplicate</a:t>
            </a:r>
            <a:endParaRPr lang="en-US" sz="1050" b="0" u="none" strike="noStrike">
              <a:solidFill>
                <a:srgbClr val="000000"/>
              </a:solidFill>
              <a:effectLst/>
              <a:uFillTx/>
              <a:latin typeface="Arial"/>
            </a:endParaRPr>
          </a:p>
        </p:txBody>
      </p:sp>
      <p:sp>
        <p:nvSpPr>
          <p:cNvPr id="394" name="Rectangle 36"/>
          <p:cNvSpPr/>
          <p:nvPr/>
        </p:nvSpPr>
        <p:spPr>
          <a:xfrm>
            <a:off x="9628560" y="3511440"/>
            <a:ext cx="178272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95" name="Rectangle 38"/>
          <p:cNvSpPr/>
          <p:nvPr/>
        </p:nvSpPr>
        <p:spPr>
          <a:xfrm>
            <a:off x="621720" y="4169520"/>
            <a:ext cx="187416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96" name="TextBox 39"/>
          <p:cNvSpPr/>
          <p:nvPr/>
        </p:nvSpPr>
        <p:spPr>
          <a:xfrm>
            <a:off x="731520" y="4316040"/>
            <a:ext cx="165456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1">
                <a:solidFill>
                  <a:srgbClr val="087D76"/>
                </a:solidFill>
                <a:latin typeface="Aptos"/>
              </a:rPr>
              <a:t>Complaints</a:t>
            </a:r>
            <a:endParaRPr lang="en-US" sz="1000" b="0" u="none" strike="noStrike">
              <a:solidFill>
                <a:srgbClr val="000000"/>
              </a:solidFill>
              <a:effectLst/>
              <a:uFillTx/>
              <a:latin typeface="Arial"/>
            </a:endParaRPr>
          </a:p>
        </p:txBody>
      </p:sp>
      <p:sp>
        <p:nvSpPr>
          <p:cNvPr id="397" name="Rectangle 40"/>
          <p:cNvSpPr/>
          <p:nvPr/>
        </p:nvSpPr>
        <p:spPr>
          <a:xfrm>
            <a:off x="2496240" y="4169520"/>
            <a:ext cx="379440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398" name="TextBox 41"/>
          <p:cNvSpPr/>
          <p:nvPr/>
        </p:nvSpPr>
        <p:spPr>
          <a:xfrm>
            <a:off x="2606040" y="4316040"/>
            <a:ext cx="35748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0">
                <a:solidFill>
                  <a:srgbClr val="1D2A3A"/>
                </a:solidFill>
                <a:latin typeface="Aptos"/>
              </a:rPr>
              <a:t>Update complaint status</a:t>
            </a:r>
            <a:endParaRPr lang="en-US" sz="1050" b="0" u="none" strike="noStrike">
              <a:solidFill>
                <a:srgbClr val="000000"/>
              </a:solidFill>
              <a:effectLst/>
              <a:uFillTx/>
              <a:latin typeface="Arial"/>
            </a:endParaRPr>
          </a:p>
        </p:txBody>
      </p:sp>
      <p:sp>
        <p:nvSpPr>
          <p:cNvPr id="399" name="Rectangle 42"/>
          <p:cNvSpPr/>
          <p:nvPr/>
        </p:nvSpPr>
        <p:spPr>
          <a:xfrm>
            <a:off x="6291000" y="4169520"/>
            <a:ext cx="333720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00" name="TextBox 43"/>
          <p:cNvSpPr/>
          <p:nvPr/>
        </p:nvSpPr>
        <p:spPr>
          <a:xfrm>
            <a:off x="6400800" y="4316040"/>
            <a:ext cx="31176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40" b="0">
                <a:solidFill>
                  <a:srgbClr val="1D2A3A"/>
                </a:solidFill>
                <a:latin typeface="Aptos"/>
              </a:rPr>
              <a:t>New status persists in database</a:t>
            </a:r>
            <a:endParaRPr lang="en-US" sz="1050" b="0" u="none" strike="noStrike">
              <a:solidFill>
                <a:srgbClr val="000000"/>
              </a:solidFill>
              <a:effectLst/>
              <a:uFillTx/>
              <a:latin typeface="Arial"/>
            </a:endParaRPr>
          </a:p>
        </p:txBody>
      </p:sp>
      <p:sp>
        <p:nvSpPr>
          <p:cNvPr id="401" name="Rectangle 44"/>
          <p:cNvSpPr/>
          <p:nvPr/>
        </p:nvSpPr>
        <p:spPr>
          <a:xfrm>
            <a:off x="9628560" y="4169520"/>
            <a:ext cx="1782720" cy="658080"/>
          </a:xfrm>
          <a:prstGeom prst="rect">
            <a:avLst/>
          </a:prstGeom>
          <a:solidFill>
            <a:srgbClr val="EDF2F7"/>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02" name="Rectangle 46"/>
          <p:cNvSpPr/>
          <p:nvPr/>
        </p:nvSpPr>
        <p:spPr>
          <a:xfrm>
            <a:off x="621720" y="4827960"/>
            <a:ext cx="187416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03" name="TextBox 47"/>
          <p:cNvSpPr/>
          <p:nvPr/>
        </p:nvSpPr>
        <p:spPr>
          <a:xfrm>
            <a:off x="731520" y="4974480"/>
            <a:ext cx="165456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00" b="1">
                <a:solidFill>
                  <a:srgbClr val="087D76"/>
                </a:solidFill>
                <a:latin typeface="Aptos"/>
              </a:rPr>
              <a:t>Reports</a:t>
            </a:r>
            <a:endParaRPr lang="en-US" sz="1000" b="0" u="none" strike="noStrike">
              <a:solidFill>
                <a:srgbClr val="000000"/>
              </a:solidFill>
              <a:effectLst/>
              <a:uFillTx/>
              <a:latin typeface="Arial"/>
            </a:endParaRPr>
          </a:p>
        </p:txBody>
      </p:sp>
      <p:sp>
        <p:nvSpPr>
          <p:cNvPr id="404" name="Rectangle 48"/>
          <p:cNvSpPr/>
          <p:nvPr/>
        </p:nvSpPr>
        <p:spPr>
          <a:xfrm>
            <a:off x="2496240" y="4827960"/>
            <a:ext cx="379440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05" name="TextBox 49"/>
          <p:cNvSpPr/>
          <p:nvPr/>
        </p:nvSpPr>
        <p:spPr>
          <a:xfrm>
            <a:off x="2606040" y="4974480"/>
            <a:ext cx="35748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80" b="0">
                <a:solidFill>
                  <a:srgbClr val="1D2A3A"/>
                </a:solidFill>
                <a:latin typeface="Aptos"/>
              </a:rPr>
              <a:t>Compare summary with records</a:t>
            </a:r>
            <a:endParaRPr lang="en-US" sz="1050" b="0" u="none" strike="noStrike">
              <a:solidFill>
                <a:srgbClr val="000000"/>
              </a:solidFill>
              <a:effectLst/>
              <a:uFillTx/>
              <a:latin typeface="Arial"/>
            </a:endParaRPr>
          </a:p>
        </p:txBody>
      </p:sp>
      <p:sp>
        <p:nvSpPr>
          <p:cNvPr id="406" name="Rectangle 50"/>
          <p:cNvSpPr/>
          <p:nvPr/>
        </p:nvSpPr>
        <p:spPr>
          <a:xfrm>
            <a:off x="6291000" y="4827960"/>
            <a:ext cx="333720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07" name="TextBox 51"/>
          <p:cNvSpPr/>
          <p:nvPr/>
        </p:nvSpPr>
        <p:spPr>
          <a:xfrm>
            <a:off x="6400800" y="4974480"/>
            <a:ext cx="3117600" cy="3654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60" b="0">
                <a:solidFill>
                  <a:srgbClr val="1D2A3A"/>
                </a:solidFill>
                <a:latin typeface="Aptos"/>
              </a:rPr>
              <a:t>Counts match source records</a:t>
            </a:r>
            <a:endParaRPr lang="en-US" sz="1050" b="0" u="none" strike="noStrike">
              <a:solidFill>
                <a:srgbClr val="000000"/>
              </a:solidFill>
              <a:effectLst/>
              <a:uFillTx/>
              <a:latin typeface="Arial"/>
            </a:endParaRPr>
          </a:p>
        </p:txBody>
      </p:sp>
      <p:sp>
        <p:nvSpPr>
          <p:cNvPr id="408" name="Rectangle 52"/>
          <p:cNvSpPr/>
          <p:nvPr/>
        </p:nvSpPr>
        <p:spPr>
          <a:xfrm>
            <a:off x="9628560" y="4827960"/>
            <a:ext cx="1782720" cy="658080"/>
          </a:xfrm>
          <a:prstGeom prst="rect">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09" name="TextBox 56"/>
          <p:cNvSpPr/>
          <p:nvPr/>
        </p:nvSpPr>
        <p:spPr>
          <a:xfrm>
            <a:off x="9718200" y="3105000"/>
            <a:ext cx="1563120" cy="1530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1">
                <a:solidFill>
                  <a:srgbClr val="166534"/>
                </a:solidFill>
                <a:latin typeface="Aptos"/>
              </a:rPr>
              <a:t>PASS</a:t>
            </a:r>
            <a:endParaRPr lang="en-US" sz="1000" b="0" u="none" strike="noStrike">
              <a:solidFill>
                <a:srgbClr val="000000"/>
              </a:solidFill>
              <a:effectLst/>
              <a:uFillTx/>
              <a:latin typeface="Arial"/>
            </a:endParaRPr>
          </a:p>
        </p:txBody>
      </p:sp>
      <p:sp>
        <p:nvSpPr>
          <p:cNvPr id="410" name="TextBox 57"/>
          <p:cNvSpPr/>
          <p:nvPr/>
        </p:nvSpPr>
        <p:spPr>
          <a:xfrm>
            <a:off x="9743040" y="3755880"/>
            <a:ext cx="1563120" cy="1530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1">
                <a:solidFill>
                  <a:srgbClr val="166534"/>
                </a:solidFill>
                <a:latin typeface="Aptos"/>
              </a:rPr>
              <a:t>PASS</a:t>
            </a:r>
            <a:endParaRPr lang="en-US" sz="1000" b="0" u="none" strike="noStrike">
              <a:solidFill>
                <a:srgbClr val="000000"/>
              </a:solidFill>
              <a:effectLst/>
              <a:uFillTx/>
              <a:latin typeface="Arial"/>
            </a:endParaRPr>
          </a:p>
        </p:txBody>
      </p:sp>
      <p:sp>
        <p:nvSpPr>
          <p:cNvPr id="411" name="TextBox 58"/>
          <p:cNvSpPr/>
          <p:nvPr/>
        </p:nvSpPr>
        <p:spPr>
          <a:xfrm>
            <a:off x="9718200" y="4442040"/>
            <a:ext cx="1563120" cy="1530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1">
                <a:solidFill>
                  <a:srgbClr val="166534"/>
                </a:solidFill>
                <a:latin typeface="Aptos"/>
              </a:rPr>
              <a:t>PASS</a:t>
            </a:r>
            <a:endParaRPr lang="en-US" sz="1000" b="0" u="none" strike="noStrike">
              <a:solidFill>
                <a:srgbClr val="000000"/>
              </a:solidFill>
              <a:effectLst/>
              <a:uFillTx/>
              <a:latin typeface="Arial"/>
            </a:endParaRPr>
          </a:p>
        </p:txBody>
      </p:sp>
      <p:sp>
        <p:nvSpPr>
          <p:cNvPr id="412" name="TextBox 59"/>
          <p:cNvSpPr/>
          <p:nvPr/>
        </p:nvSpPr>
        <p:spPr>
          <a:xfrm>
            <a:off x="9718200" y="4985280"/>
            <a:ext cx="1563120" cy="1530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950" b="1">
                <a:solidFill>
                  <a:srgbClr val="166534"/>
                </a:solidFill>
                <a:latin typeface="Aptos"/>
              </a:rPr>
              <a:t>PASS</a:t>
            </a:r>
            <a:endParaRPr lang="en-US" sz="1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413"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09 / LIVE DEMO</a:t>
            </a:r>
            <a:endParaRPr lang="en-US" sz="950" b="0" u="none" strike="noStrike">
              <a:solidFill>
                <a:srgbClr val="000000"/>
              </a:solidFill>
              <a:effectLst/>
              <a:uFillTx/>
              <a:latin typeface="Arial"/>
            </a:endParaRPr>
          </a:p>
        </p:txBody>
      </p:sp>
      <p:sp>
        <p:nvSpPr>
          <p:cNvPr id="414" name="TextBox 2"/>
          <p:cNvSpPr/>
          <p:nvPr/>
        </p:nvSpPr>
        <p:spPr>
          <a:xfrm>
            <a:off x="567000" y="603360"/>
            <a:ext cx="11063880" cy="4150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2700" b="1">
                <a:solidFill>
                  <a:srgbClr val="14263D"/>
                </a:solidFill>
                <a:latin typeface="Aptos"/>
              </a:rPr>
              <a:t>Live Demo: UI → API → Database</a:t>
            </a:r>
            <a:endParaRPr lang="en-US" sz="2700" b="0" u="none" strike="noStrike">
              <a:solidFill>
                <a:srgbClr val="000000"/>
              </a:solidFill>
              <a:effectLst/>
              <a:uFillTx/>
              <a:latin typeface="Arial"/>
            </a:endParaRPr>
          </a:p>
        </p:txBody>
      </p:sp>
      <p:sp>
        <p:nvSpPr>
          <p:cNvPr id="415"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416"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10</a:t>
            </a:r>
            <a:endParaRPr lang="en-US" sz="900" b="0" u="none" strike="noStrike">
              <a:solidFill>
                <a:srgbClr val="000000"/>
              </a:solidFill>
              <a:effectLst/>
              <a:uFillTx/>
              <a:latin typeface="Arial"/>
            </a:endParaRPr>
          </a:p>
        </p:txBody>
      </p:sp>
      <p:sp>
        <p:nvSpPr>
          <p:cNvPr id="417" name="Rounded Rectangle 6"/>
          <p:cNvSpPr/>
          <p:nvPr/>
        </p:nvSpPr>
        <p:spPr>
          <a:xfrm>
            <a:off x="658440" y="1737360"/>
            <a:ext cx="10835280" cy="6213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18" name="Rounded Rectangle 7"/>
          <p:cNvSpPr/>
          <p:nvPr/>
        </p:nvSpPr>
        <p:spPr>
          <a:xfrm>
            <a:off x="841320" y="1901880"/>
            <a:ext cx="107856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19" name="TextBox 8"/>
          <p:cNvSpPr/>
          <p:nvPr/>
        </p:nvSpPr>
        <p:spPr>
          <a:xfrm>
            <a:off x="896040" y="1924920"/>
            <a:ext cx="96876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50" b="1">
                <a:solidFill>
                  <a:srgbClr val="3576C8"/>
                </a:solidFill>
                <a:latin typeface="Aptos"/>
              </a:rPr>
              <a:t>0:00–0:20</a:t>
            </a:r>
            <a:endParaRPr lang="en-US" sz="880" b="0" u="none" strike="noStrike">
              <a:solidFill>
                <a:srgbClr val="000000"/>
              </a:solidFill>
              <a:effectLst/>
              <a:uFillTx/>
              <a:latin typeface="Arial"/>
            </a:endParaRPr>
          </a:p>
        </p:txBody>
      </p:sp>
      <p:sp>
        <p:nvSpPr>
          <p:cNvPr id="420" name="TextBox 9"/>
          <p:cNvSpPr/>
          <p:nvPr/>
        </p:nvSpPr>
        <p:spPr>
          <a:xfrm>
            <a:off x="2148840" y="1901880"/>
            <a:ext cx="1965600" cy="2556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Login &amp; role</a:t>
            </a:r>
            <a:endParaRPr lang="en-US" sz="1300" b="0" u="none" strike="noStrike">
              <a:solidFill>
                <a:srgbClr val="000000"/>
              </a:solidFill>
              <a:effectLst/>
              <a:uFillTx/>
              <a:latin typeface="Arial"/>
            </a:endParaRPr>
          </a:p>
        </p:txBody>
      </p:sp>
      <p:sp>
        <p:nvSpPr>
          <p:cNvPr id="421" name="TextBox 10"/>
          <p:cNvSpPr/>
          <p:nvPr/>
        </p:nvSpPr>
        <p:spPr>
          <a:xfrm>
            <a:off x="4160520" y="1892880"/>
            <a:ext cx="696744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00" b="0">
                <a:solidFill>
                  <a:srgbClr val="617286"/>
                </a:solidFill>
                <a:latin typeface="Aptos"/>
              </a:rPr>
              <a:t>Sign in as admin and show the protected dashboard.</a:t>
            </a:r>
            <a:endParaRPr lang="en-US" sz="1100" b="0" u="none" strike="noStrike">
              <a:solidFill>
                <a:srgbClr val="000000"/>
              </a:solidFill>
              <a:effectLst/>
              <a:uFillTx/>
              <a:latin typeface="Arial"/>
            </a:endParaRPr>
          </a:p>
        </p:txBody>
      </p:sp>
      <p:sp>
        <p:nvSpPr>
          <p:cNvPr id="422" name="Rectangle 11"/>
          <p:cNvSpPr/>
          <p:nvPr/>
        </p:nvSpPr>
        <p:spPr>
          <a:xfrm>
            <a:off x="11292840" y="1883520"/>
            <a:ext cx="50040" cy="3286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23" name="Rounded Rectangle 12"/>
          <p:cNvSpPr/>
          <p:nvPr/>
        </p:nvSpPr>
        <p:spPr>
          <a:xfrm>
            <a:off x="658440" y="2505600"/>
            <a:ext cx="10835280" cy="6213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24" name="Rounded Rectangle 13"/>
          <p:cNvSpPr/>
          <p:nvPr/>
        </p:nvSpPr>
        <p:spPr>
          <a:xfrm>
            <a:off x="841320" y="2670120"/>
            <a:ext cx="107856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25" name="TextBox 14"/>
          <p:cNvSpPr/>
          <p:nvPr/>
        </p:nvSpPr>
        <p:spPr>
          <a:xfrm>
            <a:off x="896040" y="2692800"/>
            <a:ext cx="96876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50" b="1">
                <a:solidFill>
                  <a:srgbClr val="3576C8"/>
                </a:solidFill>
                <a:latin typeface="Aptos"/>
              </a:rPr>
              <a:t>0:20–1:00</a:t>
            </a:r>
            <a:endParaRPr lang="en-US" sz="880" b="0" u="none" strike="noStrike">
              <a:solidFill>
                <a:srgbClr val="000000"/>
              </a:solidFill>
              <a:effectLst/>
              <a:uFillTx/>
              <a:latin typeface="Arial"/>
            </a:endParaRPr>
          </a:p>
        </p:txBody>
      </p:sp>
      <p:sp>
        <p:nvSpPr>
          <p:cNvPr id="426" name="TextBox 15"/>
          <p:cNvSpPr/>
          <p:nvPr/>
        </p:nvSpPr>
        <p:spPr>
          <a:xfrm>
            <a:off x="2148840" y="2670120"/>
            <a:ext cx="1965600" cy="2556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Allocate a bed</a:t>
            </a:r>
            <a:endParaRPr lang="en-US" sz="1300" b="0" u="none" strike="noStrike">
              <a:solidFill>
                <a:srgbClr val="000000"/>
              </a:solidFill>
              <a:effectLst/>
              <a:uFillTx/>
              <a:latin typeface="Arial"/>
            </a:endParaRPr>
          </a:p>
        </p:txBody>
      </p:sp>
      <p:sp>
        <p:nvSpPr>
          <p:cNvPr id="427" name="TextBox 16"/>
          <p:cNvSpPr/>
          <p:nvPr/>
        </p:nvSpPr>
        <p:spPr>
          <a:xfrm>
            <a:off x="4160520" y="2660760"/>
            <a:ext cx="696744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00" b="0">
                <a:solidFill>
                  <a:srgbClr val="617286"/>
                </a:solidFill>
                <a:latin typeface="Aptos"/>
              </a:rPr>
              <a:t>Select a student and a vacant bed; submit the allocation.</a:t>
            </a:r>
            <a:endParaRPr lang="en-US" sz="1100" b="0" u="none" strike="noStrike">
              <a:solidFill>
                <a:srgbClr val="000000"/>
              </a:solidFill>
              <a:effectLst/>
              <a:uFillTx/>
              <a:latin typeface="Arial"/>
            </a:endParaRPr>
          </a:p>
        </p:txBody>
      </p:sp>
      <p:sp>
        <p:nvSpPr>
          <p:cNvPr id="428" name="Rectangle 17"/>
          <p:cNvSpPr/>
          <p:nvPr/>
        </p:nvSpPr>
        <p:spPr>
          <a:xfrm>
            <a:off x="11292840" y="2651760"/>
            <a:ext cx="50040" cy="3286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29" name="Rounded Rectangle 18"/>
          <p:cNvSpPr/>
          <p:nvPr/>
        </p:nvSpPr>
        <p:spPr>
          <a:xfrm>
            <a:off x="658440" y="3273480"/>
            <a:ext cx="10835280" cy="6213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30" name="Rounded Rectangle 19"/>
          <p:cNvSpPr/>
          <p:nvPr/>
        </p:nvSpPr>
        <p:spPr>
          <a:xfrm>
            <a:off x="841320" y="3438000"/>
            <a:ext cx="107856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31" name="TextBox 20"/>
          <p:cNvSpPr/>
          <p:nvPr/>
        </p:nvSpPr>
        <p:spPr>
          <a:xfrm>
            <a:off x="896040" y="3461040"/>
            <a:ext cx="96876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50" b="1">
                <a:solidFill>
                  <a:srgbClr val="3576C8"/>
                </a:solidFill>
                <a:latin typeface="Aptos"/>
              </a:rPr>
              <a:t>1:00–1:30</a:t>
            </a:r>
            <a:endParaRPr lang="en-US" sz="880" b="0" u="none" strike="noStrike">
              <a:solidFill>
                <a:srgbClr val="000000"/>
              </a:solidFill>
              <a:effectLst/>
              <a:uFillTx/>
              <a:latin typeface="Arial"/>
            </a:endParaRPr>
          </a:p>
        </p:txBody>
      </p:sp>
      <p:sp>
        <p:nvSpPr>
          <p:cNvPr id="432" name="TextBox 21"/>
          <p:cNvSpPr/>
          <p:nvPr/>
        </p:nvSpPr>
        <p:spPr>
          <a:xfrm>
            <a:off x="2148840" y="3438000"/>
            <a:ext cx="1965600" cy="2556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Database proof</a:t>
            </a:r>
            <a:endParaRPr lang="en-US" sz="1300" b="0" u="none" strike="noStrike">
              <a:solidFill>
                <a:srgbClr val="000000"/>
              </a:solidFill>
              <a:effectLst/>
              <a:uFillTx/>
              <a:latin typeface="Arial"/>
            </a:endParaRPr>
          </a:p>
        </p:txBody>
      </p:sp>
      <p:sp>
        <p:nvSpPr>
          <p:cNvPr id="433" name="TextBox 22"/>
          <p:cNvSpPr/>
          <p:nvPr/>
        </p:nvSpPr>
        <p:spPr>
          <a:xfrm>
            <a:off x="4160520" y="3429000"/>
            <a:ext cx="696744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00" b="0">
                <a:solidFill>
                  <a:srgbClr val="617286"/>
                </a:solidFill>
                <a:latin typeface="Aptos"/>
              </a:rPr>
              <a:t>Show the saved allocation document and active status.</a:t>
            </a:r>
            <a:endParaRPr lang="en-US" sz="1100" b="0" u="none" strike="noStrike">
              <a:solidFill>
                <a:srgbClr val="000000"/>
              </a:solidFill>
              <a:effectLst/>
              <a:uFillTx/>
              <a:latin typeface="Arial"/>
            </a:endParaRPr>
          </a:p>
        </p:txBody>
      </p:sp>
      <p:sp>
        <p:nvSpPr>
          <p:cNvPr id="434" name="Rectangle 23"/>
          <p:cNvSpPr/>
          <p:nvPr/>
        </p:nvSpPr>
        <p:spPr>
          <a:xfrm>
            <a:off x="11292840" y="3420000"/>
            <a:ext cx="50040" cy="328680"/>
          </a:xfrm>
          <a:prstGeom prst="rect">
            <a:avLst/>
          </a:prstGeom>
          <a:solidFill>
            <a:srgbClr val="D99A2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35" name="Rounded Rectangle 24"/>
          <p:cNvSpPr/>
          <p:nvPr/>
        </p:nvSpPr>
        <p:spPr>
          <a:xfrm>
            <a:off x="658440" y="4041720"/>
            <a:ext cx="10835280" cy="6213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36" name="Rounded Rectangle 25"/>
          <p:cNvSpPr/>
          <p:nvPr/>
        </p:nvSpPr>
        <p:spPr>
          <a:xfrm>
            <a:off x="841320" y="4206240"/>
            <a:ext cx="107856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37" name="TextBox 26"/>
          <p:cNvSpPr/>
          <p:nvPr/>
        </p:nvSpPr>
        <p:spPr>
          <a:xfrm>
            <a:off x="896040" y="4229280"/>
            <a:ext cx="96876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50" b="1">
                <a:solidFill>
                  <a:srgbClr val="3576C8"/>
                </a:solidFill>
                <a:latin typeface="Aptos"/>
              </a:rPr>
              <a:t>1:30–2:00</a:t>
            </a:r>
            <a:endParaRPr lang="en-US" sz="880" b="0" u="none" strike="noStrike">
              <a:solidFill>
                <a:srgbClr val="000000"/>
              </a:solidFill>
              <a:effectLst/>
              <a:uFillTx/>
              <a:latin typeface="Arial"/>
            </a:endParaRPr>
          </a:p>
        </p:txBody>
      </p:sp>
      <p:sp>
        <p:nvSpPr>
          <p:cNvPr id="438" name="TextBox 27"/>
          <p:cNvSpPr/>
          <p:nvPr/>
        </p:nvSpPr>
        <p:spPr>
          <a:xfrm>
            <a:off x="2148840" y="4206240"/>
            <a:ext cx="1965600" cy="2556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Duplicate guard</a:t>
            </a:r>
            <a:endParaRPr lang="en-US" sz="1300" b="0" u="none" strike="noStrike">
              <a:solidFill>
                <a:srgbClr val="000000"/>
              </a:solidFill>
              <a:effectLst/>
              <a:uFillTx/>
              <a:latin typeface="Arial"/>
            </a:endParaRPr>
          </a:p>
        </p:txBody>
      </p:sp>
      <p:sp>
        <p:nvSpPr>
          <p:cNvPr id="439" name="TextBox 28"/>
          <p:cNvSpPr/>
          <p:nvPr/>
        </p:nvSpPr>
        <p:spPr>
          <a:xfrm>
            <a:off x="4160520" y="4197240"/>
            <a:ext cx="696744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00" b="0">
                <a:solidFill>
                  <a:srgbClr val="617286"/>
                </a:solidFill>
                <a:latin typeface="Aptos"/>
              </a:rPr>
              <a:t>Try an occupied bed and show the conflict response.</a:t>
            </a:r>
            <a:endParaRPr lang="en-US" sz="1100" b="0" u="none" strike="noStrike">
              <a:solidFill>
                <a:srgbClr val="000000"/>
              </a:solidFill>
              <a:effectLst/>
              <a:uFillTx/>
              <a:latin typeface="Arial"/>
            </a:endParaRPr>
          </a:p>
        </p:txBody>
      </p:sp>
      <p:sp>
        <p:nvSpPr>
          <p:cNvPr id="440" name="Rectangle 29"/>
          <p:cNvSpPr/>
          <p:nvPr/>
        </p:nvSpPr>
        <p:spPr>
          <a:xfrm>
            <a:off x="11292840" y="4187880"/>
            <a:ext cx="50040" cy="32868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41" name="Rounded Rectangle 30"/>
          <p:cNvSpPr/>
          <p:nvPr/>
        </p:nvSpPr>
        <p:spPr>
          <a:xfrm>
            <a:off x="658440" y="4809600"/>
            <a:ext cx="10835280" cy="6213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42" name="Rounded Rectangle 31"/>
          <p:cNvSpPr/>
          <p:nvPr/>
        </p:nvSpPr>
        <p:spPr>
          <a:xfrm>
            <a:off x="841320" y="4974480"/>
            <a:ext cx="1078560" cy="292320"/>
          </a:xfrm>
          <a:prstGeom prst="roundRect">
            <a:avLst>
              <a:gd name="adj" fmla="val 12000"/>
            </a:avLst>
          </a:prstGeom>
          <a:solidFill>
            <a:srgbClr val="EAF2F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43" name="TextBox 32"/>
          <p:cNvSpPr/>
          <p:nvPr/>
        </p:nvSpPr>
        <p:spPr>
          <a:xfrm>
            <a:off x="896040" y="4997160"/>
            <a:ext cx="968760" cy="237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ctr">
            <a:spAutoFit/>
          </a:bodyPr>
          <a:lstStyle/>
          <a:p>
            <a:pPr algn="ctr" defTabSz="457200">
              <a:lnSpc>
                <a:spcPct val="100000"/>
              </a:lnSpc>
            </a:pPr>
            <a:r>
              <a:rPr sz="950" b="1">
                <a:solidFill>
                  <a:srgbClr val="3576C8"/>
                </a:solidFill>
                <a:latin typeface="Aptos"/>
              </a:rPr>
              <a:t>2:00–2:40</a:t>
            </a:r>
            <a:endParaRPr lang="en-US" sz="880" b="0" u="none" strike="noStrike">
              <a:solidFill>
                <a:srgbClr val="000000"/>
              </a:solidFill>
              <a:effectLst/>
              <a:uFillTx/>
              <a:latin typeface="Arial"/>
            </a:endParaRPr>
          </a:p>
        </p:txBody>
      </p:sp>
      <p:sp>
        <p:nvSpPr>
          <p:cNvPr id="444" name="TextBox 33"/>
          <p:cNvSpPr/>
          <p:nvPr/>
        </p:nvSpPr>
        <p:spPr>
          <a:xfrm>
            <a:off x="2148840" y="4974480"/>
            <a:ext cx="1965600" cy="25560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00" b="1">
                <a:solidFill>
                  <a:srgbClr val="14263D"/>
                </a:solidFill>
                <a:latin typeface="Aptos"/>
              </a:rPr>
              <a:t>Complaints + reports</a:t>
            </a:r>
            <a:endParaRPr lang="en-US" sz="1300" b="0" u="none" strike="noStrike">
              <a:solidFill>
                <a:srgbClr val="000000"/>
              </a:solidFill>
              <a:effectLst/>
              <a:uFillTx/>
              <a:latin typeface="Arial"/>
            </a:endParaRPr>
          </a:p>
        </p:txBody>
      </p:sp>
      <p:sp>
        <p:nvSpPr>
          <p:cNvPr id="445" name="TextBox 34"/>
          <p:cNvSpPr/>
          <p:nvPr/>
        </p:nvSpPr>
        <p:spPr>
          <a:xfrm>
            <a:off x="4160520" y="4965120"/>
            <a:ext cx="6967440" cy="310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80" b="0">
                <a:solidFill>
                  <a:srgbClr val="617286"/>
                </a:solidFill>
                <a:latin typeface="Aptos"/>
              </a:rPr>
              <a:t>Update a complaint status, then show occupancy or complaint totals.</a:t>
            </a:r>
            <a:endParaRPr lang="en-US" sz="1100" b="0" u="none" strike="noStrike">
              <a:solidFill>
                <a:srgbClr val="000000"/>
              </a:solidFill>
              <a:effectLst/>
              <a:uFillTx/>
              <a:latin typeface="Arial"/>
            </a:endParaRPr>
          </a:p>
        </p:txBody>
      </p:sp>
      <p:sp>
        <p:nvSpPr>
          <p:cNvPr id="446" name="Rectangle 35"/>
          <p:cNvSpPr/>
          <p:nvPr/>
        </p:nvSpPr>
        <p:spPr>
          <a:xfrm>
            <a:off x="11292840" y="4956120"/>
            <a:ext cx="50040" cy="32868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447" name="TextBox 1"/>
          <p:cNvSpPr/>
          <p:nvPr/>
        </p:nvSpPr>
        <p:spPr>
          <a:xfrm>
            <a:off x="567000" y="274320"/>
            <a:ext cx="68576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950" b="1" u="none" strike="noStrike">
                <a:solidFill>
                  <a:srgbClr val="087D76"/>
                </a:solidFill>
                <a:effectLst/>
                <a:uFillTx/>
                <a:latin typeface="Aptos"/>
              </a:rPr>
              <a:t>10 / WRAP-UP</a:t>
            </a:r>
            <a:endParaRPr lang="en-US" sz="950" b="0" u="none" strike="noStrike">
              <a:solidFill>
                <a:srgbClr val="000000"/>
              </a:solidFill>
              <a:effectLst/>
              <a:uFillTx/>
              <a:latin typeface="Arial"/>
            </a:endParaRPr>
          </a:p>
        </p:txBody>
      </p:sp>
      <p:sp>
        <p:nvSpPr>
          <p:cNvPr id="448" name="TextBox 2"/>
          <p:cNvSpPr/>
          <p:nvPr/>
        </p:nvSpPr>
        <p:spPr>
          <a:xfrm>
            <a:off x="567000" y="603360"/>
            <a:ext cx="1106388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2700" b="1" u="none" strike="noStrike">
                <a:solidFill>
                  <a:srgbClr val="14263D"/>
                </a:solidFill>
                <a:effectLst/>
                <a:uFillTx/>
                <a:latin typeface="Aptos"/>
              </a:rPr>
              <a:t>Conclusion &amp; Future Improvements</a:t>
            </a:r>
            <a:endParaRPr lang="en-US" sz="2700" b="0" u="none" strike="noStrike">
              <a:solidFill>
                <a:srgbClr val="000000"/>
              </a:solidFill>
              <a:effectLst/>
              <a:uFillTx/>
              <a:latin typeface="Arial"/>
            </a:endParaRPr>
          </a:p>
        </p:txBody>
      </p:sp>
      <p:sp>
        <p:nvSpPr>
          <p:cNvPr id="449" name="TextBox 3"/>
          <p:cNvSpPr/>
          <p:nvPr/>
        </p:nvSpPr>
        <p:spPr>
          <a:xfrm>
            <a:off x="585360" y="1161360"/>
            <a:ext cx="10972440" cy="31968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150" b="0">
                <a:solidFill>
                  <a:srgbClr val="617286"/>
                </a:solidFill>
                <a:latin typeface="Aptos"/>
              </a:rPr>
              <a:t>A database-backed application brings core hostel records and workflows into one system.</a:t>
            </a:r>
            <a:endParaRPr lang="en-US" sz="1150" b="0" u="none" strike="noStrike">
              <a:solidFill>
                <a:srgbClr val="000000"/>
              </a:solidFill>
              <a:effectLst/>
              <a:uFillTx/>
              <a:latin typeface="Arial"/>
            </a:endParaRPr>
          </a:p>
        </p:txBody>
      </p:sp>
      <p:sp>
        <p:nvSpPr>
          <p:cNvPr id="450" name="TextBox 4"/>
          <p:cNvSpPr/>
          <p:nvPr/>
        </p:nvSpPr>
        <p:spPr>
          <a:xfrm>
            <a:off x="567000" y="6519600"/>
            <a:ext cx="850356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820" b="1" u="none" strike="noStrike">
                <a:solidFill>
                  <a:srgbClr val="718196"/>
                </a:solidFill>
                <a:effectLst/>
                <a:uFillTx/>
                <a:latin typeface="Aptos"/>
              </a:rPr>
              <a:t>SMART HOSTEL MANAGEMENT SYSTEM  •  DBMS PROJECT  •  IIT GUWAHATI</a:t>
            </a:r>
            <a:endParaRPr lang="en-US" sz="820" b="0" u="none" strike="noStrike">
              <a:solidFill>
                <a:srgbClr val="000000"/>
              </a:solidFill>
              <a:effectLst/>
              <a:uFillTx/>
              <a:latin typeface="Arial"/>
            </a:endParaRPr>
          </a:p>
        </p:txBody>
      </p:sp>
      <p:sp>
        <p:nvSpPr>
          <p:cNvPr id="451" name="TextBox 5"/>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718196"/>
                </a:solidFill>
                <a:effectLst/>
                <a:uFillTx/>
                <a:latin typeface="Aptos"/>
              </a:rPr>
              <a:t>11</a:t>
            </a:r>
            <a:endParaRPr lang="en-US" sz="900" b="0" u="none" strike="noStrike">
              <a:solidFill>
                <a:srgbClr val="000000"/>
              </a:solidFill>
              <a:effectLst/>
              <a:uFillTx/>
              <a:latin typeface="Arial"/>
            </a:endParaRPr>
          </a:p>
        </p:txBody>
      </p:sp>
      <p:sp>
        <p:nvSpPr>
          <p:cNvPr id="452" name="Rounded Rectangle 6"/>
          <p:cNvSpPr/>
          <p:nvPr/>
        </p:nvSpPr>
        <p:spPr>
          <a:xfrm>
            <a:off x="658440" y="1783080"/>
            <a:ext cx="5257440" cy="14169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53" name="Rectangle 7"/>
          <p:cNvSpPr/>
          <p:nvPr/>
        </p:nvSpPr>
        <p:spPr>
          <a:xfrm>
            <a:off x="658440" y="1911240"/>
            <a:ext cx="54360" cy="116100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54" name="TextBox 10"/>
          <p:cNvSpPr/>
          <p:nvPr/>
        </p:nvSpPr>
        <p:spPr>
          <a:xfrm>
            <a:off x="859680" y="1956960"/>
            <a:ext cx="347436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600" b="1">
                <a:solidFill>
                  <a:srgbClr val="1D2A3A"/>
                </a:solidFill>
                <a:latin typeface="Aptos"/>
              </a:rPr>
              <a:t>Foundation modules</a:t>
            </a:r>
            <a:endParaRPr lang="en-US" sz="1600" b="0" u="none" strike="noStrike">
              <a:solidFill>
                <a:srgbClr val="000000"/>
              </a:solidFill>
              <a:effectLst/>
              <a:uFillTx/>
              <a:latin typeface="Arial"/>
            </a:endParaRPr>
          </a:p>
        </p:txBody>
      </p:sp>
      <p:sp>
        <p:nvSpPr>
          <p:cNvPr id="455" name="TextBox 11"/>
          <p:cNvSpPr/>
          <p:nvPr/>
        </p:nvSpPr>
        <p:spPr>
          <a:xfrm>
            <a:off x="859680" y="2414160"/>
            <a:ext cx="4864320" cy="66708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140" b="0">
                <a:solidFill>
                  <a:srgbClr val="617286"/>
                </a:solidFill>
                <a:latin typeface="Aptos"/>
              </a:rPr>
              <a:t>Authentication, user management, and hostel / room / bed inventory support allocation and reporting.</a:t>
            </a:r>
            <a:endParaRPr lang="en-US" sz="1200" b="0" u="none" strike="noStrike">
              <a:solidFill>
                <a:srgbClr val="000000"/>
              </a:solidFill>
              <a:effectLst/>
              <a:uFillTx/>
              <a:latin typeface="Arial"/>
            </a:endParaRPr>
          </a:p>
        </p:txBody>
      </p:sp>
      <p:sp>
        <p:nvSpPr>
          <p:cNvPr id="456" name="Rounded Rectangle 12"/>
          <p:cNvSpPr/>
          <p:nvPr/>
        </p:nvSpPr>
        <p:spPr>
          <a:xfrm>
            <a:off x="6199560" y="1783080"/>
            <a:ext cx="5257440" cy="141696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57" name="Rectangle 13"/>
          <p:cNvSpPr/>
          <p:nvPr/>
        </p:nvSpPr>
        <p:spPr>
          <a:xfrm>
            <a:off x="6199560" y="1911240"/>
            <a:ext cx="54360" cy="1161000"/>
          </a:xfrm>
          <a:prstGeom prst="rect">
            <a:avLst/>
          </a:prstGeom>
          <a:solidFill>
            <a:srgbClr val="3576C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58" name="TextBox 16"/>
          <p:cNvSpPr/>
          <p:nvPr/>
        </p:nvSpPr>
        <p:spPr>
          <a:xfrm>
            <a:off x="6400800" y="1956960"/>
            <a:ext cx="3474360" cy="3470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600" b="1">
                <a:solidFill>
                  <a:srgbClr val="1D2A3A"/>
                </a:solidFill>
                <a:latin typeface="Aptos"/>
              </a:rPr>
              <a:t>Completed project scope</a:t>
            </a:r>
            <a:endParaRPr lang="en-US" sz="1600" b="0" u="none" strike="noStrike">
              <a:solidFill>
                <a:srgbClr val="000000"/>
              </a:solidFill>
              <a:effectLst/>
              <a:uFillTx/>
              <a:latin typeface="Arial"/>
            </a:endParaRPr>
          </a:p>
        </p:txBody>
      </p:sp>
      <p:sp>
        <p:nvSpPr>
          <p:cNvPr id="459" name="TextBox 17"/>
          <p:cNvSpPr/>
          <p:nvPr/>
        </p:nvSpPr>
        <p:spPr>
          <a:xfrm>
            <a:off x="6400800" y="2414160"/>
            <a:ext cx="4864320" cy="667080"/>
          </a:xfrm>
          <a:prstGeom prst="rect">
            <a:avLst/>
          </a:prstGeom>
          <a:noFill/>
          <a:ln w="0">
            <a:noFill/>
          </a:ln>
        </p:spPr>
        <p:style>
          <a:lnRef idx="0">
            <a:scrgbClr r="0" g="0" b="0"/>
          </a:lnRef>
          <a:fillRef idx="0">
            <a:scrgbClr r="0" g="0" b="0"/>
          </a:fillRef>
          <a:effectRef idx="0">
            <a:scrgbClr r="0" g="0" b="0"/>
          </a:effectRef>
          <a:fontRef idx="minor"/>
        </p:style>
        <p:txBody>
          <a:bodyPr wrap="square" lIns="9000" tIns="9000" rIns="9000" bIns="9000" anchor="t">
            <a:spAutoFit/>
          </a:bodyPr>
          <a:lstStyle/>
          <a:p>
            <a:pPr defTabSz="457200">
              <a:lnSpc>
                <a:spcPct val="100000"/>
              </a:lnSpc>
            </a:pPr>
            <a:r>
              <a:rPr sz="1140" b="0">
                <a:solidFill>
                  <a:srgbClr val="617286"/>
                </a:solidFill>
                <a:latin typeface="Aptos"/>
              </a:rPr>
              <a:t>Student allocation with vacancy checks, complaint registration and status tracking, plus occupancy and complaint summaries.</a:t>
            </a:r>
            <a:endParaRPr lang="en-US" sz="1200" b="0" u="none" strike="noStrike">
              <a:solidFill>
                <a:srgbClr val="000000"/>
              </a:solidFill>
              <a:effectLst/>
              <a:uFillTx/>
              <a:latin typeface="Arial"/>
            </a:endParaRPr>
          </a:p>
        </p:txBody>
      </p:sp>
      <p:sp>
        <p:nvSpPr>
          <p:cNvPr id="460" name="TextBox 18"/>
          <p:cNvSpPr/>
          <p:nvPr/>
        </p:nvSpPr>
        <p:spPr>
          <a:xfrm>
            <a:off x="694800" y="3703320"/>
            <a:ext cx="29257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00" b="1" u="none" strike="noStrike">
                <a:solidFill>
                  <a:srgbClr val="087D76"/>
                </a:solidFill>
                <a:effectLst/>
                <a:uFillTx/>
                <a:latin typeface="Aptos"/>
              </a:rPr>
              <a:t>FUTURE IMPROVEMENTS</a:t>
            </a:r>
            <a:endParaRPr lang="en-US" sz="1000" b="0" u="none" strike="noStrike">
              <a:solidFill>
                <a:srgbClr val="000000"/>
              </a:solidFill>
              <a:effectLst/>
              <a:uFillTx/>
              <a:latin typeface="Arial"/>
            </a:endParaRPr>
          </a:p>
        </p:txBody>
      </p:sp>
      <p:sp>
        <p:nvSpPr>
          <p:cNvPr id="461" name="Rounded Rectangle 19"/>
          <p:cNvSpPr/>
          <p:nvPr/>
        </p:nvSpPr>
        <p:spPr>
          <a:xfrm>
            <a:off x="658440" y="4096440"/>
            <a:ext cx="5257440" cy="639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62" name="TextBox 20"/>
          <p:cNvSpPr/>
          <p:nvPr/>
        </p:nvSpPr>
        <p:spPr>
          <a:xfrm>
            <a:off x="822960" y="4279320"/>
            <a:ext cx="383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00" b="1" u="none" strike="noStrike">
                <a:solidFill>
                  <a:srgbClr val="12A89D"/>
                </a:solidFill>
                <a:effectLst/>
                <a:uFillTx/>
                <a:latin typeface="Aptos"/>
              </a:rPr>
              <a:t>01</a:t>
            </a:r>
            <a:endParaRPr lang="en-US" sz="1000" b="0" u="none" strike="noStrike">
              <a:solidFill>
                <a:srgbClr val="000000"/>
              </a:solidFill>
              <a:effectLst/>
              <a:uFillTx/>
              <a:latin typeface="Arial"/>
            </a:endParaRPr>
          </a:p>
        </p:txBody>
      </p:sp>
      <p:sp>
        <p:nvSpPr>
          <p:cNvPr id="463" name="TextBox 21"/>
          <p:cNvSpPr/>
          <p:nvPr/>
        </p:nvSpPr>
        <p:spPr>
          <a:xfrm>
            <a:off x="1316880" y="4251960"/>
            <a:ext cx="1188360" cy="228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Testing</a:t>
            </a:r>
            <a:endParaRPr lang="en-US" sz="1200" b="0" u="none" strike="noStrike">
              <a:solidFill>
                <a:srgbClr val="000000"/>
              </a:solidFill>
              <a:effectLst/>
              <a:uFillTx/>
              <a:latin typeface="Arial"/>
            </a:endParaRPr>
          </a:p>
        </p:txBody>
      </p:sp>
      <p:sp>
        <p:nvSpPr>
          <p:cNvPr id="464" name="TextBox 22"/>
          <p:cNvSpPr/>
          <p:nvPr/>
        </p:nvSpPr>
        <p:spPr>
          <a:xfrm>
            <a:off x="2532960" y="4251960"/>
            <a:ext cx="3154320" cy="2923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50" b="0">
                <a:solidFill>
                  <a:srgbClr val="617286"/>
                </a:solidFill>
                <a:latin typeface="Aptos"/>
              </a:rPr>
              <a:t>Broaden automated API and edge-case coverage.</a:t>
            </a:r>
            <a:endParaRPr lang="en-US" sz="1030" b="0" u="none" strike="noStrike">
              <a:solidFill>
                <a:srgbClr val="000000"/>
              </a:solidFill>
              <a:effectLst/>
              <a:uFillTx/>
              <a:latin typeface="Arial"/>
            </a:endParaRPr>
          </a:p>
        </p:txBody>
      </p:sp>
      <p:sp>
        <p:nvSpPr>
          <p:cNvPr id="465" name="Rounded Rectangle 23"/>
          <p:cNvSpPr/>
          <p:nvPr/>
        </p:nvSpPr>
        <p:spPr>
          <a:xfrm>
            <a:off x="6190560" y="4096440"/>
            <a:ext cx="5257440" cy="639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66" name="TextBox 24"/>
          <p:cNvSpPr/>
          <p:nvPr/>
        </p:nvSpPr>
        <p:spPr>
          <a:xfrm>
            <a:off x="6355080" y="4279320"/>
            <a:ext cx="383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00" b="1" u="none" strike="noStrike">
                <a:solidFill>
                  <a:srgbClr val="12A89D"/>
                </a:solidFill>
                <a:effectLst/>
                <a:uFillTx/>
                <a:latin typeface="Aptos"/>
              </a:rPr>
              <a:t>02</a:t>
            </a:r>
            <a:endParaRPr lang="en-US" sz="1000" b="0" u="none" strike="noStrike">
              <a:solidFill>
                <a:srgbClr val="000000"/>
              </a:solidFill>
              <a:effectLst/>
              <a:uFillTx/>
              <a:latin typeface="Arial"/>
            </a:endParaRPr>
          </a:p>
        </p:txBody>
      </p:sp>
      <p:sp>
        <p:nvSpPr>
          <p:cNvPr id="467" name="TextBox 25"/>
          <p:cNvSpPr/>
          <p:nvPr/>
        </p:nvSpPr>
        <p:spPr>
          <a:xfrm>
            <a:off x="6849000" y="4251960"/>
            <a:ext cx="1188360" cy="228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Scale</a:t>
            </a:r>
            <a:endParaRPr lang="en-US" sz="1200" b="0" u="none" strike="noStrike">
              <a:solidFill>
                <a:srgbClr val="000000"/>
              </a:solidFill>
              <a:effectLst/>
              <a:uFillTx/>
              <a:latin typeface="Arial"/>
            </a:endParaRPr>
          </a:p>
        </p:txBody>
      </p:sp>
      <p:sp>
        <p:nvSpPr>
          <p:cNvPr id="468" name="TextBox 26"/>
          <p:cNvSpPr/>
          <p:nvPr/>
        </p:nvSpPr>
        <p:spPr>
          <a:xfrm>
            <a:off x="8065080" y="4251960"/>
            <a:ext cx="3154320" cy="2923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50" b="0">
                <a:solidFill>
                  <a:srgbClr val="617286"/>
                </a:solidFill>
                <a:latin typeface="Aptos"/>
              </a:rPr>
              <a:t>Measure performance with larger datasets.</a:t>
            </a:r>
            <a:endParaRPr lang="en-US" sz="1030" b="0" u="none" strike="noStrike">
              <a:solidFill>
                <a:srgbClr val="000000"/>
              </a:solidFill>
              <a:effectLst/>
              <a:uFillTx/>
              <a:latin typeface="Arial"/>
            </a:endParaRPr>
          </a:p>
        </p:txBody>
      </p:sp>
      <p:sp>
        <p:nvSpPr>
          <p:cNvPr id="469" name="Rounded Rectangle 27"/>
          <p:cNvSpPr/>
          <p:nvPr/>
        </p:nvSpPr>
        <p:spPr>
          <a:xfrm>
            <a:off x="658440" y="4901040"/>
            <a:ext cx="5257440" cy="639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70" name="TextBox 28"/>
          <p:cNvSpPr/>
          <p:nvPr/>
        </p:nvSpPr>
        <p:spPr>
          <a:xfrm>
            <a:off x="822960" y="5083920"/>
            <a:ext cx="383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00" b="1" u="none" strike="noStrike">
                <a:solidFill>
                  <a:srgbClr val="12A89D"/>
                </a:solidFill>
                <a:effectLst/>
                <a:uFillTx/>
                <a:latin typeface="Aptos"/>
              </a:rPr>
              <a:t>03</a:t>
            </a:r>
            <a:endParaRPr lang="en-US" sz="1000" b="0" u="none" strike="noStrike">
              <a:solidFill>
                <a:srgbClr val="000000"/>
              </a:solidFill>
              <a:effectLst/>
              <a:uFillTx/>
              <a:latin typeface="Arial"/>
            </a:endParaRPr>
          </a:p>
        </p:txBody>
      </p:sp>
      <p:sp>
        <p:nvSpPr>
          <p:cNvPr id="471" name="TextBox 29"/>
          <p:cNvSpPr/>
          <p:nvPr/>
        </p:nvSpPr>
        <p:spPr>
          <a:xfrm>
            <a:off x="1316880" y="5056560"/>
            <a:ext cx="1188360" cy="228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Analytics</a:t>
            </a:r>
            <a:endParaRPr lang="en-US" sz="1200" b="0" u="none" strike="noStrike">
              <a:solidFill>
                <a:srgbClr val="000000"/>
              </a:solidFill>
              <a:effectLst/>
              <a:uFillTx/>
              <a:latin typeface="Arial"/>
            </a:endParaRPr>
          </a:p>
        </p:txBody>
      </p:sp>
      <p:sp>
        <p:nvSpPr>
          <p:cNvPr id="472" name="TextBox 30"/>
          <p:cNvSpPr/>
          <p:nvPr/>
        </p:nvSpPr>
        <p:spPr>
          <a:xfrm>
            <a:off x="2532960" y="5056560"/>
            <a:ext cx="3154320" cy="2923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50" b="0">
                <a:solidFill>
                  <a:srgbClr val="617286"/>
                </a:solidFill>
                <a:latin typeface="Aptos"/>
              </a:rPr>
              <a:t>Add richer time-based trends and comparisons.</a:t>
            </a:r>
            <a:endParaRPr lang="en-US" sz="1030" b="0" u="none" strike="noStrike">
              <a:solidFill>
                <a:srgbClr val="000000"/>
              </a:solidFill>
              <a:effectLst/>
              <a:uFillTx/>
              <a:latin typeface="Arial"/>
            </a:endParaRPr>
          </a:p>
        </p:txBody>
      </p:sp>
      <p:sp>
        <p:nvSpPr>
          <p:cNvPr id="473" name="Rounded Rectangle 31"/>
          <p:cNvSpPr/>
          <p:nvPr/>
        </p:nvSpPr>
        <p:spPr>
          <a:xfrm>
            <a:off x="6190560" y="4901040"/>
            <a:ext cx="5257440" cy="639720"/>
          </a:xfrm>
          <a:prstGeom prst="roundRect">
            <a:avLst>
              <a:gd name="adj" fmla="val 12000"/>
            </a:avLst>
          </a:prstGeom>
          <a:solidFill>
            <a:srgbClr val="FFFFFF"/>
          </a:solidFill>
          <a:ln w="12700">
            <a:solidFill>
              <a:srgbClr val="DCE5E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74" name="TextBox 32"/>
          <p:cNvSpPr/>
          <p:nvPr/>
        </p:nvSpPr>
        <p:spPr>
          <a:xfrm>
            <a:off x="6355080" y="5083920"/>
            <a:ext cx="3837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000" b="1" u="none" strike="noStrike">
                <a:solidFill>
                  <a:srgbClr val="12A89D"/>
                </a:solidFill>
                <a:effectLst/>
                <a:uFillTx/>
                <a:latin typeface="Aptos"/>
              </a:rPr>
              <a:t>04</a:t>
            </a:r>
            <a:endParaRPr lang="en-US" sz="1000" b="0" u="none" strike="noStrike">
              <a:solidFill>
                <a:srgbClr val="000000"/>
              </a:solidFill>
              <a:effectLst/>
              <a:uFillTx/>
              <a:latin typeface="Arial"/>
            </a:endParaRPr>
          </a:p>
        </p:txBody>
      </p:sp>
      <p:sp>
        <p:nvSpPr>
          <p:cNvPr id="475" name="TextBox 33"/>
          <p:cNvSpPr/>
          <p:nvPr/>
        </p:nvSpPr>
        <p:spPr>
          <a:xfrm>
            <a:off x="6849000" y="5056560"/>
            <a:ext cx="1188360" cy="2282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250" b="1">
                <a:solidFill>
                  <a:srgbClr val="14263D"/>
                </a:solidFill>
                <a:latin typeface="Aptos"/>
              </a:rPr>
              <a:t>Operations</a:t>
            </a:r>
            <a:endParaRPr lang="en-US" sz="1200" b="0" u="none" strike="noStrike">
              <a:solidFill>
                <a:srgbClr val="000000"/>
              </a:solidFill>
              <a:effectLst/>
              <a:uFillTx/>
              <a:latin typeface="Arial"/>
            </a:endParaRPr>
          </a:p>
        </p:txBody>
      </p:sp>
      <p:sp>
        <p:nvSpPr>
          <p:cNvPr id="476" name="TextBox 34"/>
          <p:cNvSpPr/>
          <p:nvPr/>
        </p:nvSpPr>
        <p:spPr>
          <a:xfrm>
            <a:off x="8065080" y="5056560"/>
            <a:ext cx="3154320" cy="2923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defTabSz="457200">
              <a:lnSpc>
                <a:spcPct val="100000"/>
              </a:lnSpc>
            </a:pPr>
            <a:r>
              <a:rPr sz="1050" b="0">
                <a:solidFill>
                  <a:srgbClr val="617286"/>
                </a:solidFill>
                <a:latin typeface="Aptos"/>
              </a:rPr>
              <a:t>Formalize backup and audit-review routines.</a:t>
            </a:r>
            <a:endParaRPr lang="en-US" sz="103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63D"/>
        </a:solidFill>
        <a:effectLst/>
      </p:bgPr>
    </p:bg>
    <p:spTree>
      <p:nvGrpSpPr>
        <p:cNvPr id="1" name=""/>
        <p:cNvGrpSpPr/>
        <p:nvPr/>
      </p:nvGrpSpPr>
      <p:grpSpPr>
        <a:xfrm>
          <a:off x="0" y="0"/>
          <a:ext cx="0" cy="0"/>
          <a:chOff x="0" y="0"/>
          <a:chExt cx="0" cy="0"/>
        </a:xfrm>
      </p:grpSpPr>
      <p:sp>
        <p:nvSpPr>
          <p:cNvPr id="477" name="Rectangle 1"/>
          <p:cNvSpPr/>
          <p:nvPr/>
        </p:nvSpPr>
        <p:spPr>
          <a:xfrm>
            <a:off x="0" y="0"/>
            <a:ext cx="164160" cy="6857640"/>
          </a:xfrm>
          <a:prstGeom prst="rect">
            <a:avLst/>
          </a:prstGeom>
          <a:solidFill>
            <a:srgbClr val="12A89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endParaRPr lang="en-US" sz="1800" b="0" u="none" strike="noStrike">
              <a:solidFill>
                <a:schemeClr val="lt1"/>
              </a:solidFill>
              <a:effectLst/>
              <a:uFillTx/>
              <a:latin typeface="Calibri"/>
            </a:endParaRPr>
          </a:p>
        </p:txBody>
      </p:sp>
      <p:sp>
        <p:nvSpPr>
          <p:cNvPr id="478" name="TextBox 4"/>
          <p:cNvSpPr/>
          <p:nvPr/>
        </p:nvSpPr>
        <p:spPr>
          <a:xfrm>
            <a:off x="3756506" y="3298359"/>
            <a:ext cx="5120280" cy="67644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457200">
              <a:lnSpc>
                <a:spcPct val="100000"/>
              </a:lnSpc>
            </a:pPr>
            <a:r>
              <a:rPr sz="3000" b="1" dirty="0">
                <a:solidFill>
                  <a:srgbClr val="FFFFFF"/>
                </a:solidFill>
                <a:latin typeface="Aptos"/>
              </a:rPr>
              <a:t>Thank You</a:t>
            </a:r>
            <a:endParaRPr lang="en-US" sz="3800" b="0" u="none" strike="noStrike" dirty="0">
              <a:solidFill>
                <a:srgbClr val="FFFFFF"/>
              </a:solidFill>
              <a:effectLst/>
              <a:uFillTx/>
              <a:latin typeface="Arial"/>
            </a:endParaRPr>
          </a:p>
        </p:txBody>
      </p:sp>
      <p:sp>
        <p:nvSpPr>
          <p:cNvPr id="479" name="TextBox 23"/>
          <p:cNvSpPr/>
          <p:nvPr/>
        </p:nvSpPr>
        <p:spPr>
          <a:xfrm>
            <a:off x="11201400" y="6492240"/>
            <a:ext cx="411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900" b="1" u="none" strike="noStrike">
                <a:solidFill>
                  <a:srgbClr val="B7C7D8"/>
                </a:solidFill>
                <a:effectLst/>
                <a:uFillTx/>
                <a:latin typeface="Aptos"/>
              </a:rPr>
              <a:t>12</a:t>
            </a:r>
            <a:endParaRPr lang="en-US" sz="9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TotalTime>
  <Words>1750</Words>
  <Application>Microsoft Macintosh PowerPoint</Application>
  <PresentationFormat>Widescreen</PresentationFormat>
  <Paragraphs>276</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Mono</vt: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Hostel Management System — DBMS Project</dc:title>
  <dc:subject>10-minute DBMS presentation with code examples and database concepts</dc:subject>
  <dc:creator>Shiv Prakash</dc:creator>
  <cp:keywords>DBMS, MongoDB, Mongoose, React, Express, hostel allocation, complaints, aggregation</cp:keywords>
  <cp:lastModifiedBy>SHIV PRAKASH</cp:lastModifiedBy>
  <cp:revision>2</cp:revision>
  <dcterms:modified xsi:type="dcterms:W3CDTF">2026-10-29T17:24:36Z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12</vt:r8>
  </property>
  <property fmtid="{D5CDD505-2E9C-101B-9397-08002B2CF9AE}" pid="3" name="PresentationFormat">
    <vt:lpwstr>Widescreen</vt:lpwstr>
  </property>
  <property fmtid="{D5CDD505-2E9C-101B-9397-08002B2CF9AE}" pid="4" name="Slides">
    <vt:r8>12</vt:r8>
  </property>
</Properties>
</file>